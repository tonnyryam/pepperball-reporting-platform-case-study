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3da4b059ab4aea" /><Relationship Type="http://schemas.openxmlformats.org/officeDocument/2006/relationships/extended-properties" Target="/docProps/app.xml" Id="R465b8b1d4abe4e74" /><Relationship Type="http://schemas.openxmlformats.org/officeDocument/2006/relationships/officeDocument" Target="/ppt/presentation.xml" Id="Rff59c90e99e6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19b43d194e44cc"/>
  </p:sldMasterIdLst>
  <p:notesMasterIdLst>
    <p:notesMasterId xmlns:r="http://schemas.openxmlformats.org/officeDocument/2006/relationships" r:id="Raa68336e39084fa1"/>
  </p:notesMasterIdLst>
  <p:sldIdLst>
    <p:sldId xmlns:r="http://schemas.openxmlformats.org/officeDocument/2006/relationships" id="256" r:id="R617ae172cc8c4810"/>
    <p:sldId xmlns:r="http://schemas.openxmlformats.org/officeDocument/2006/relationships" id="257" r:id="R56defdd4333e45c8"/>
    <p:sldId xmlns:r="http://schemas.openxmlformats.org/officeDocument/2006/relationships" id="258" r:id="Rdef5c21a214e4680"/>
    <p:sldId xmlns:r="http://schemas.openxmlformats.org/officeDocument/2006/relationships" id="259" r:id="R93819eed913d4e7b"/>
    <p:sldId xmlns:r="http://schemas.openxmlformats.org/officeDocument/2006/relationships" id="260" r:id="Rd2e1e5f1487a43fb"/>
    <p:sldId xmlns:r="http://schemas.openxmlformats.org/officeDocument/2006/relationships" id="261" r:id="Rb0e8f4b70dd74864"/>
    <p:sldId xmlns:r="http://schemas.openxmlformats.org/officeDocument/2006/relationships" id="262" r:id="R53448a4bbffe4996"/>
    <p:sldId xmlns:r="http://schemas.openxmlformats.org/officeDocument/2006/relationships" id="263" r:id="Rd0e28540d26749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875fc0a19b4ac5" /><Relationship Type="http://schemas.openxmlformats.org/officeDocument/2006/relationships/slideMaster" Target="/ppt/slideMasters/slideMaster1.xml" Id="R6719b43d194e44cc" /><Relationship Type="http://schemas.openxmlformats.org/officeDocument/2006/relationships/notesMaster" Target="/ppt/notesMasters/notesMaster1.xml" Id="Raa68336e39084fa1" /><Relationship Type="http://schemas.openxmlformats.org/officeDocument/2006/relationships/presProps" Target="/ppt/presProps.xml" Id="R3bfb601f1ade478b" /><Relationship Type="http://schemas.openxmlformats.org/officeDocument/2006/relationships/tableStyles" Target="/ppt/tableStyles.xml" Id="R7e94f8766c744abd" /><Relationship Type="http://schemas.openxmlformats.org/officeDocument/2006/relationships/slide" Target="/ppt/slides/slide1.xml" Id="R617ae172cc8c4810" /><Relationship Type="http://schemas.openxmlformats.org/officeDocument/2006/relationships/slide" Target="/ppt/slides/slide2.xml" Id="R56defdd4333e45c8" /><Relationship Type="http://schemas.openxmlformats.org/officeDocument/2006/relationships/slide" Target="/ppt/slides/slide3.xml" Id="Rdef5c21a214e4680" /><Relationship Type="http://schemas.openxmlformats.org/officeDocument/2006/relationships/slide" Target="/ppt/slides/slide4.xml" Id="R93819eed913d4e7b" /><Relationship Type="http://schemas.openxmlformats.org/officeDocument/2006/relationships/slide" Target="/ppt/slides/slide5.xml" Id="Rd2e1e5f1487a43fb" /><Relationship Type="http://schemas.openxmlformats.org/officeDocument/2006/relationships/slide" Target="/ppt/slides/slide6.xml" Id="Rb0e8f4b70dd74864" /><Relationship Type="http://schemas.openxmlformats.org/officeDocument/2006/relationships/slide" Target="/ppt/slides/slide7.xml" Id="R53448a4bbffe4996" /><Relationship Type="http://schemas.openxmlformats.org/officeDocument/2006/relationships/slide" Target="/ppt/slides/slide8.xml" Id="Rd0e28540d26749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2fbb94d1e140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9db1f586b14fc0" /><Relationship Type="http://schemas.openxmlformats.org/officeDocument/2006/relationships/notesMaster" Target="/ppt/notesMasters/notesMaster1.xml" Id="Rd9e7959fee9c43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95c2cb7d624126" /><Relationship Type="http://schemas.openxmlformats.org/officeDocument/2006/relationships/notesMaster" Target="/ppt/notesMasters/notesMaster1.xml" Id="Rb250a4b457ef47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e4548e48b94d6e" /><Relationship Type="http://schemas.openxmlformats.org/officeDocument/2006/relationships/notesMaster" Target="/ppt/notesMasters/notesMaster1.xml" Id="R5bbce80e88094f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5928a275414317" /><Relationship Type="http://schemas.openxmlformats.org/officeDocument/2006/relationships/notesMaster" Target="/ppt/notesMasters/notesMaster1.xml" Id="Rb9764b825d7943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b4c9a3669f4b01" /><Relationship Type="http://schemas.openxmlformats.org/officeDocument/2006/relationships/notesMaster" Target="/ppt/notesMasters/notesMaster1.xml" Id="R2623d7ab49704b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76a93e069a450f" /><Relationship Type="http://schemas.openxmlformats.org/officeDocument/2006/relationships/notesMaster" Target="/ppt/notesMasters/notesMaster1.xml" Id="R3db0530aa3a741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42d20e4a894102" /><Relationship Type="http://schemas.openxmlformats.org/officeDocument/2006/relationships/notesMaster" Target="/ppt/notesMasters/notesMaster1.xml" Id="R13c7d78906ce4f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36d2aa641f40c6" /><Relationship Type="http://schemas.openxmlformats.org/officeDocument/2006/relationships/notesMaster" Target="/ppt/notesMasters/notesMaster1.xml" Id="R1d1783968b8740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system outcome, then name the operating context. The core claim is reliability across the full source-to-user path, not a standalone spreadsheet generator.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four classes of uncertainty. Each one requires a different invariant; none is solved by simply retrying more often.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- docs/technical-decisions.md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clockwise. Original evidence stays authoritative, user surfaces stay read-only, repair reuses the canonical path, and release controls govern the same writer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raw package inspection matters: a recalculating spreadsheet client can make a visually plausible file appear correct even when required stored values are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public/synthetic-report-summary.png (synthetic artifact)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horizontal line as the lifecycle. Stress that all recovery reuses the existing renderer, publisher, queue, and checkpoint store; there is no parallel self-healing writer.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docs/reliability-state-machine.md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a failed-restored release as positive evidence for containment and rollback, not as a successful successor. The system preserved service and one-writer topology while refusing the regression.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docs/security-and-governance.md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numbers are architecture and protocol invariants, not business-impact claims. The verified operational outcomes are deterministic products, missing-output detection, same-item refresh, exact readback, bounded repair, and one-writer rollback.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- docs/project-chronology.md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engineering principle: reliable automation is defined as much by refusal and evidence as by successful mutation. Invite discussion at the system, reliability, or operational level.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docs/project-chronology.md</a:t>
            </a:r>
          </a:p>
          <a:p xmlns:a="http://schemas.openxmlformats.org/drawingml/2006/main">
            <a:r>
              <a:t>- docs/interview-kit.md</a:t>
            </a:r>
          </a:p>
          <a:p xmlns:a="http://schemas.openxmlformats.org/drawingml/2006/main">
            <a:r>
              <a:t>- CONTACT.md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5d23fbf42e48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936098a0a34bda" /><Relationship Type="http://schemas.openxmlformats.org/officeDocument/2006/relationships/slideLayout" Target="/ppt/slideLayouts/slideLayout1.xml" Id="R88f3d5a17c2641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f3d5a17c2641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fac5e87394023" /><Relationship Type="http://schemas.openxmlformats.org/officeDocument/2006/relationships/notesSlide" Target="/ppt/notesSlides/notesSlide1.xml" Id="R4b04c1101d7e44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7c46558df405a" /><Relationship Type="http://schemas.openxmlformats.org/officeDocument/2006/relationships/notesSlide" Target="/ppt/notesSlides/notesSlide2.xml" Id="Ree68cef16a3741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63a1c0243492c" /><Relationship Type="http://schemas.openxmlformats.org/officeDocument/2006/relationships/notesSlide" Target="/ppt/notesSlides/notesSlide3.xml" Id="R7265ecd948a649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54a4ebde44429" /><Relationship Type="http://schemas.openxmlformats.org/officeDocument/2006/relationships/image" Target="/ppt/media/image.png" Id="Rb2cd790b51414e30" /><Relationship Type="http://schemas.openxmlformats.org/officeDocument/2006/relationships/notesSlide" Target="/ppt/notesSlides/notesSlide4.xml" Id="Rd2a19108f10142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a7e6becae467c" /><Relationship Type="http://schemas.openxmlformats.org/officeDocument/2006/relationships/notesSlide" Target="/ppt/notesSlides/notesSlide5.xml" Id="R49d0d50c4a9444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768141b334958" /><Relationship Type="http://schemas.openxmlformats.org/officeDocument/2006/relationships/notesSlide" Target="/ppt/notesSlides/notesSlide6.xml" Id="Rb02c73339122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a31fb207744ca" /><Relationship Type="http://schemas.openxmlformats.org/officeDocument/2006/relationships/notesSlide" Target="/ppt/notesSlides/notesSlide7.xml" Id="R649e60a07aea4f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50f795bfe4a81" /><Relationship Type="http://schemas.openxmlformats.org/officeDocument/2006/relationships/notesSlide" Target="/ppt/notesSlides/notesSlide8.xml" Id="R3a52257ffb3b40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6B9D5-486C-4FBF-B00D-5A02EB4C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ENGINEERING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87B1A-8D88-41A2-B598-C57ED38A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9810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555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A reporting platform that can explain and repair itself.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27969-B9F5-40A4-B800-2D8194F2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29150"/>
            <a:ext cx="70961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From changing documents to governed facts, deterministic products, bounded recovery, and one-writer delivery.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21EDD-7D57-48F2-96CF-9A9C7ED4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933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01A18"/>
          </a:solidFill>
          <a:ln xmlns:a="http://schemas.openxmlformats.org/drawingml/2006/main" w="9525">
            <a:solidFill>
              <a:srgbClr val="101A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187CD-D447-4F48-B8A3-B9368E9C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10125"/>
            <a:ext cx="2495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E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EF78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F156E-D525-4D45-8C14-EA5B101D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153025"/>
            <a:ext cx="2495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</p:spTree>
    <p:extLst>
      <p:ext uri="{BB962C8B-B14F-4D97-AF65-F5344CB8AC3E}">
        <p14:creationId xmlns:p14="http://schemas.microsoft.com/office/powerpoint/2010/main" val="1514031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D7A100-34ED-4BDF-B8A4-7B92BADB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PROBLEM AND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B0319-6855-4402-8EFD-8AB03EDD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6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Why a healthy pipeline could still produce an unhealthy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2544B6-44F7-4418-A4B6-DF38B848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Reliability gaps lived between components, business meaning, remote state, and release timing.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67118-254F-4548-A17E-E3C5F9EE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5ED99-5EDA-4869-88D3-8E34748C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AE980-633D-4C3E-AF3C-BCCDE1E0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577EA-F849-467D-A556-479E1A1F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155DB4-2C93-4C05-ACEF-8F409F60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Missing identity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96149-E722-47C7-8578-F2D9C64F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Monitoring existing files cannot detect a report that was expected but never created.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8DAB4-AB62-4170-BCB1-5328765A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F5AE3-F88C-4849-80A5-F7D17275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CBADB4-D85C-4A4D-88F5-24230327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Semantic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6C7ED-E8EB-4E21-BF41-E764847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A byte or capture timestamp can change even when governed business material does not.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731A7-C9A5-424C-B214-2CF57931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04F02-3F4F-4F15-8B2C-C5807372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15EB5-6161-4958-8738-CFA530C4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Ambiguous writes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B0B37-B0A4-47AD-9126-2BBA21CE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A remote write may succeed while its response is lost, making naive retry unsafe.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965539-7D76-41D0-8A22-35C57226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05C96A-955B-4384-A108-4D6232D8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003B3-1FDC-4C52-90B6-2CBA913B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Shared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6AD8C-F7A6-4468-A1BA-D044E7E7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Independently correct schedules can still collide at one canonical publication surface.</a:t>
            </a:r>
          </a:p>
        </p:txBody>
      </p:sp>
    </p:spTree>
    <p:extLst>
      <p:ext uri="{BB962C8B-B14F-4D97-AF65-F5344CB8AC3E}">
        <p14:creationId xmlns:p14="http://schemas.microsoft.com/office/powerpoint/2010/main" val="806268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92DAAA-D27D-422C-B2DD-7603A65F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8F2B4-6CE0-487B-9A7C-7429D88D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The end-to-end governed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34F5A-EB16-41A4-BD79-25CD4764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Eight responsibilities connect the source, product, user, recovery, and release planes.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5E507-2AA1-4B4D-B50B-3E5DC1D1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E87DA-3EE2-4CC5-8509-61A878B0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6CCD3-4371-4238-89F7-51C8D891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4C9B5-EE60-4D80-80AC-EBE39709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4A763-5144-4139-8E7B-B43F9847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44DE5-D7D0-4300-BFFD-C709FEAF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Version-aware documents</a:t>
            </a:r>
          </a:p>
        </p:txBody>
      </p:sp>
      <p:cxnSp>
        <p:nvCxnSpPr>
          <p:cNvPr id="57" name=""/>
          <p:cNvCxnSpPr/>
          <p:nvPr/>
        </p:nvCxnSpPr>
        <p:spPr>
          <a:xfrm xmlns:a="http://schemas.openxmlformats.org/drawingml/2006/main">
            <a:off x="28003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27ED5-0ACC-4688-B6EC-CB33C6A9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CCBC1-B2CB-4E96-9BD0-CBC90583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16684-B911-4CDD-BEDF-5D8856CC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0DBD0-1E6F-406D-A136-18EE2293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Raw, normalized, current</a:t>
            </a:r>
          </a:p>
        </p:txBody>
      </p:sp>
      <p:cxnSp>
        <p:nvCxnSpPr>
          <p:cNvPr id="62" name=""/>
          <p:cNvCxnSpPr/>
          <p:nvPr/>
        </p:nvCxnSpPr>
        <p:spPr>
          <a:xfrm xmlns:a="http://schemas.openxmlformats.org/drawingml/2006/main">
            <a:off x="571500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1A8C42-1297-4AD6-8652-55ECB3AB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E0B809-A041-4754-9BE5-3D8D1673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F4DC9-79C4-4868-895E-17C0B0F2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ACCOUNT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C6B7E6-6548-45AF-B2F6-03B66B87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Expected output state</a:t>
            </a:r>
          </a:p>
        </p:txBody>
      </p:sp>
      <p:cxnSp>
        <p:nvCxnSpPr>
          <p:cNvPr id="67" name=""/>
          <p:cNvCxnSpPr/>
          <p:nvPr/>
        </p:nvCxnSpPr>
        <p:spPr>
          <a:xfrm xmlns:a="http://schemas.openxmlformats.org/drawingml/2006/main">
            <a:off x="86296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F9EC6F-458A-4BE3-87D5-050759B4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02E262-3B0F-49F4-A752-F934B71D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08F2F2-C1C6-4C1A-992F-A26741C0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E3F1CE-026A-4175-AD38-E00148BC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Four workbook families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D5E00C-2454-4768-8444-4ADBAD50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9F0924-C70C-4EE5-84CB-2230E9B7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FE0F72-D8E4-4315-B123-A4EA9FDA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CD6B8B-4B0C-45C3-87BD-A054BBE5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One writer and rollback</a:t>
            </a:r>
          </a:p>
        </p:txBody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28003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204CAA-FC3A-4CDF-918F-88AA123F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C345B2-9FE2-48D3-A242-261BC26A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93A038-BE3C-4542-88E3-1964937A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712697-DD0E-4DA1-8B08-CC8BDA90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Fair bounded recovery</a:t>
            </a:r>
          </a:p>
        </p:txBody>
      </p:sp>
      <p:cxnSp>
        <p:nvCxnSpPr>
          <p:cNvPr id="81" name=""/>
          <p:cNvCxnSpPr/>
          <p:nvPr/>
        </p:nvCxnSpPr>
        <p:spPr>
          <a:xfrm xmlns:a="http://schemas.openxmlformats.org/drawingml/2006/main">
            <a:off x="571500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AE6610-511F-4360-B94D-BB53DF53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052AD3-9EFF-44A9-A482-2BF1B256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61F05E-1141-48B9-8CA7-F5C452D7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4C78E7-4F92-4823-B8F4-1A92D49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API, portal, doctor</a:t>
            </a:r>
          </a:p>
        </p:txBody>
      </p:sp>
      <p:cxnSp>
        <p:nvCxnSpPr>
          <p:cNvPr id="86" name=""/>
          <p:cNvCxnSpPr/>
          <p:nvPr/>
        </p:nvCxnSpPr>
        <p:spPr>
          <a:xfrm xmlns:a="http://schemas.openxmlformats.org/drawingml/2006/main">
            <a:off x="86296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8E2D43-714D-48E2-AE32-7D198472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329983-5AE5-4F7E-8917-F675C5B7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6E7823-E691-4365-A939-3ACDF45E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4C0494-B43B-43BC-BE21-E25BAB59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Conditional write plus GET</a:t>
            </a:r>
          </a:p>
        </p:txBody>
      </p:sp>
      <p:cxnSp>
        <p:nvCxnSpPr>
          <p:cNvPr id="91" name=""/>
          <p:cNvCxnSpPr/>
          <p:nvPr/>
        </p:nvCxnSpPr>
        <p:spPr>
          <a:xfrm xmlns:a="http://schemas.openxmlformats.org/drawingml/2006/main">
            <a:off x="1034415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  <p:cxnSp>
        <p:nvCxnSpPr>
          <p:cNvPr id="92" name=""/>
          <p:cNvCxnSpPr/>
          <p:nvPr/>
        </p:nvCxnSpPr>
        <p:spPr>
          <a:xfrm xmlns:a="http://schemas.openxmlformats.org/drawingml/2006/main">
            <a:off x="160020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5E4A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781757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898E83-8120-498C-8C5C-5B3DF298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PRODUCT AND DATA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6D275-6FEE-44FF-AA53-E8BC31DE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1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The workbook is an operational product - not an incidental export.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2D564-9DF9-47BE-9DCC-4F115198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Rendered appearance and raw package state must agree before publication.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425CB-BB61-4EC8-8E9C-2F489CDA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25369-ABF0-4D65-9E18-E401634F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d790b51414e30"/>
          <a:stretch xmlns:a="http://schemas.openxmlformats.org/drawingml/2006/main"/>
        </p:blipFill>
        <p:spPr>
          <a:xfrm xmlns:a="http://schemas.openxmlformats.org/drawingml/2006/main">
            <a:off x="508915" y="2552700"/>
            <a:ext cx="6449771" cy="3257550"/>
          </a:xfrm>
          <a:prstGeom xmlns:a="http://schemas.openxmlformats.org/drawingml/2006/main" prst="roundRect">
            <a:avLst>
              <a:gd name="adj" fmla="val 467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AE92C-0AA7-4C08-9AB7-A827A04E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52700"/>
            <a:ext cx="438150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101A18"/>
          </a:solidFill>
          <a:ln xmlns:a="http://schemas.openxmlformats.org/drawingml/2006/main" w="9525">
            <a:solidFill>
              <a:srgbClr val="101A1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46602-E1B9-4D06-BB43-B7529394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819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E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EF78"/>
                </a:solidFill>
                <a:latin typeface="Aptos"/>
                <a:ea typeface="Aptos"/>
                <a:cs typeface="Aptos"/>
              </a:rPr>
              <a:t>CERTIFICATION SURFACES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6EE5A-976C-4C7A-BFBB-4887299C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05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42E79E-620B-40C1-85B2-B023F447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67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Two visible, purposeful sheets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8E79E-C005-40D7-BB78-A0C6588D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86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CEFE8-4DE1-45AB-B18F-485E7615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48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Client-independent stored values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37028-5312-489E-AE4F-444B18B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67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7DF297-B7BD-4673-82D0-A73D838C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29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Formula and raw-package structure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88014-146A-40AB-A3FF-629483AF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448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8F5BB-1FA3-4DBD-B1DC-DD4D820B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10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Source lineage and material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D9DBC-64A4-4E4F-AD94-53BBE1A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29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7CB28-64AB-4D64-B6BE-B1089779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91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Missing remains distinct from zero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293A4-0652-46DD-981E-E86952CF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10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7F71DF-021A-4B83-B5CB-94E888E5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72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Family semantics and visual layout</a:t>
            </a:r>
          </a:p>
        </p:txBody>
      </p:sp>
    </p:spTree>
    <p:extLst>
      <p:ext uri="{BB962C8B-B14F-4D97-AF65-F5344CB8AC3E}">
        <p14:creationId xmlns:p14="http://schemas.microsoft.com/office/powerpoint/2010/main" val="7880228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16E49-53DC-44C9-B347-F862712A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RECOVERY STATE MACHINE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895BF-323F-4CDA-8B34-71641CE7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Self-healing reduces authority as uncertainty increases.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512CD-EFFA-4C8E-AE77-B6878A85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The loop can repair eligible technical gaps, but it cannot invent facts or rewrite protected evidence.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F0CB3-B5A0-4731-922D-5682C104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F81B0-BDE8-43CF-8D4B-3E20D308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0050" y="34099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5E4A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45C84-D093-4760-8500-4D3363ED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7B45"/>
          </a:solidFill>
          <a:ln xmlns:a="http://schemas.openxmlformats.org/drawingml/2006/main" w="9525">
            <a:solidFill>
              <a:srgbClr val="EF7B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38804-9EB8-408A-ABF6-2320C40E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DF374-9768-4D0E-9109-A258A6E6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Expected versus 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C81EE-6AF0-43B2-ADA3-BAD6B915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Independent accounting detects an identity that never existed.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87DF6B-D65C-47A7-ADC6-35734A52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7B45"/>
          </a:solidFill>
          <a:ln xmlns:a="http://schemas.openxmlformats.org/drawingml/2006/main" w="9525">
            <a:solidFill>
              <a:srgbClr val="EF7B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4F27E-DB24-42C0-B4B0-5AAB773E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E694E3-00CD-4566-BB5B-59A85030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Classify and prepare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93AB7-7FB1-479A-9C5B-685E1BBB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Fair selection, source preparation, semantic identity, protected holds.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AA6C4D-3B5D-4DDA-9C9B-FCC56C75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7B45"/>
          </a:solidFill>
          <a:ln xmlns:a="http://schemas.openxmlformats.org/drawingml/2006/main" w="9525">
            <a:solidFill>
              <a:srgbClr val="EF7B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80AA1-3D7E-48E3-993D-EA856470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SETTLE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978CB-CD91-4AAA-BF28-5945B602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Write, read, or refuse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4CB187-1D7F-4EF4-A096-E94EE085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Conditional same-item write, GET-only settlement, no-op, or terminal closure.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A67008-03D0-492E-AC3D-3CF3DB5F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E7EC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5BC0BB-9FFE-4425-A590-A68564A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6864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ELIGIBLE: technical gaps and qualified late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1973F9-ADA3-474B-A63F-939717F1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686425"/>
            <a:ext cx="569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PROTECTED: unknown identity, missing business evidence, access conflicts, terminal outputs</a:t>
            </a:r>
          </a:p>
        </p:txBody>
      </p:sp>
    </p:spTree>
    <p:extLst>
      <p:ext uri="{BB962C8B-B14F-4D97-AF65-F5344CB8AC3E}">
        <p14:creationId xmlns:p14="http://schemas.microsoft.com/office/powerpoint/2010/main" val="2122077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2005AE-AA0B-4574-BFA4-4287259B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FAIL-CLOSED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00BDF-0B4F-4514-B586-BDD733ED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Security, uptime, and rollback are one release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F99C6-06EF-4FF3-99C1-21F38DC4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A release is acceptable only when identity, access, lineage, presentation, writer topology, and exact restoration all remain proven.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92A32-B6B8-4126-992E-1D9C4499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9BF1A-6E54-4A02-B672-F61F9C26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A7B89-3D7E-4BC4-BB7C-B6D54E19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04D36-59AB-49F4-8A1F-96DBF746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F8B940-62A0-43B7-8BAC-ADC4B683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Least privilege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60747-13DB-4A96-ADB7-C7C24366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Unknown identity, permission, ACL, or secret state refuses mutation.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E2CF3-F19C-4115-962E-13D5F088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2905C2-380A-4FE7-A169-C24C9221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SHADOW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4F9CC-AE67-477E-A43F-5E4BB732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Zero-output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5761AA-C4B0-4F10-B61E-ADF3A280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An immutable successor prepares and decides in production shape without proof writes.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7F1E96-0275-4445-B2BD-09608E60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3C159A-9E44-4719-A4B6-BFBC11F5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HANDOFF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2845C-B6A7-48F0-85F5-F77ABC41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Exactly one writer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7EEF22-C469-4E4C-8442-861737B9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The current writer drains before the successor activates; overlap fails the release.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4BFFD9-0AD6-4ACE-A54A-15634127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5E6DE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74994B-8E02-4BE3-9000-90EFEC4E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7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B45"/>
                </a:solidFill>
                <a:latin typeface="Aptos"/>
                <a:ea typeface="Aptos"/>
                <a:cs typeface="Aptos"/>
              </a:rPr>
              <a:t>RESTORE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26B2F0-92F4-4DFA-AAD9-8343D1BF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Exact predecessor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4AF32E-915B-465F-9F98-A6229EC7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4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Material regression restores the certified inactive release instead of forcing output.</a:t>
            </a:r>
          </a:p>
        </p:txBody>
      </p:sp>
    </p:spTree>
    <p:extLst>
      <p:ext uri="{BB962C8B-B14F-4D97-AF65-F5344CB8AC3E}">
        <p14:creationId xmlns:p14="http://schemas.microsoft.com/office/powerpoint/2010/main" val="80385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02284-01DA-43CE-8E35-9BF1FDAB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VERIFICATION AND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5DD09-96CC-415C-BB7F-E34D95E8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Evidence closes the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2C077-36C1-415C-BEC1-0985B54C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Claims remain bounded by the grade of proof: test, raw artifact, shadow, readback, failed-restored release, or natural schedule.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9C777-C060-4B68-9B2A-0C704C78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27CC1-0660-459E-8BED-51CDAB72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E5E4B-F67F-4A3C-8C09-BA7A37B4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1391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Focused and integration tests establish bounded rules. Raw workbook inspection validates the client-independent product. Output-suppressed shadows prove decisions without mutation. Exact remote readback certifies accepted state. Natural schedules prove the real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61BF08-D9F2-4DAB-A813-F60C2510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93D08-66F9-44EA-92DF-AD2FAAF7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821FE-CA41-45A6-8D5C-66D9E628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report families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243DD-B440-44E0-B402-7586647E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Shared reliability domain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1D0EC7-33E6-4B03-B084-F9697F70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6A2A6-40E8-408C-8C8A-474FFE7B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8340E-AF2E-4745-9310-8CE1335F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active writer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DF2D8-39CD-453B-AC17-ED8A0A8F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Serialized immutable releases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25E4F1-2059-481C-A984-3783EE9B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7ECDF"/>
          </a:solidFill>
          <a:ln xmlns:a="http://schemas.openxmlformats.org/drawingml/2006/main" w="9525">
            <a:solidFill>
              <a:srgbClr val="CFD7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CCBCF-45A5-4A51-B5B5-CD0AA653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8A4946-1C00-42C9-8570-C112C4AB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retry 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A34460-04C5-443B-9F1B-4293C0DE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GET-only ambiguous settlement</a:t>
            </a:r>
          </a:p>
        </p:txBody>
      </p:sp>
    </p:spTree>
    <p:extLst>
      <p:ext uri="{BB962C8B-B14F-4D97-AF65-F5344CB8AC3E}">
        <p14:creationId xmlns:p14="http://schemas.microsoft.com/office/powerpoint/2010/main" val="12360374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435E1-47BB-4D7F-8CDE-81549BBC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WHAT I WOULD CARRY FORWARD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071D7-0FBD-45C8-A020-94AB5531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0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A18"/>
                </a:solidFill>
                <a:latin typeface="Aptos"/>
                <a:ea typeface="Aptos"/>
                <a:cs typeface="Aptos"/>
              </a:defRPr>
            </a:pPr>
            <a:r>
              <a:rPr sz="4950" b="1">
                <a:solidFill>
                  <a:srgbClr val="101A18"/>
                </a:solidFill>
                <a:latin typeface="Aptos"/>
                <a:ea typeface="Aptos"/>
                <a:cs typeface="Aptos"/>
              </a:rPr>
              <a:t>Trustworthy automation knows when not to write.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4E228-F4B7-4880-976A-A6F99BA5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6381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Semantic identity over byte identity.</a:t>
            </a:r>
          </a:p>
          <a:p xmlns:a="http://schemas.openxmlformats.org/drawingml/2006/main">
            <a:pPr algn="l">
              <a:defRPr sz="18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GET before replay.</a:t>
            </a:r>
          </a:p>
          <a:p xmlns:a="http://schemas.openxmlformats.org/drawingml/2006/main">
            <a:pPr algn="l">
              <a:defRPr sz="18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Protect terminal evidence.</a:t>
            </a:r>
          </a:p>
          <a:p xmlns:a="http://schemas.openxmlformats.org/drawingml/2006/main">
            <a:pPr algn="l">
              <a:defRPr sz="18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Make rollback observable.</a:t>
            </a:r>
          </a:p>
          <a:p xmlns:a="http://schemas.openxmlformats.org/drawingml/2006/main">
            <a:pPr algn="l">
              <a:defRPr sz="1875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Turn incidents into synthetic regressions.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2C159-3DF0-4070-9664-8EC75C43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33800"/>
            <a:ext cx="39814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55E4A"/>
          </a:solidFill>
          <a:ln xmlns:a="http://schemas.openxmlformats.org/drawingml/2006/main" w="9525">
            <a:solidFill>
              <a:srgbClr val="155E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23279-477A-41D4-A702-CBBBD7FB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0025"/>
            <a:ext cx="3409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EF7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EF78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09A63-877A-452C-B860-F6D051C7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defRPr sz="1500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0084F-FD67-4626-BD82-8AF8C3B1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1492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github.com/tonnyryam</a:t>
            </a:r>
          </a:p>
          <a:p xmlns:a="http://schemas.openxmlformats.org/drawingml/2006/main">
            <a:pPr algn="l">
              <a:defRPr sz="112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linkedin.com/in/thomas-f-ryan</a:t>
            </a:r>
          </a:p>
          <a:p xmlns:a="http://schemas.openxmlformats.org/drawingml/2006/main">
            <a:pPr algn="l">
              <a:defRPr sz="1125" b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DF7"/>
                </a:solidFill>
                <a:latin typeface="Aptos"/>
                <a:ea typeface="Aptos"/>
                <a:cs typeface="Aptos"/>
              </a:rPr>
              <a:t>tommyryan.sf415@gmail.com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1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1C2D5-73C3-444D-877F-8F2AD27D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5E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5E4A"/>
                </a:solidFill>
                <a:latin typeface="Aptos"/>
                <a:ea typeface="Aptos"/>
                <a:cs typeface="Aptos"/>
              </a:rPr>
              <a:t>ALL RIGHTS RESERVED · SANITIZED PORTFOLIO CASE STUDY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F88A5-3FB7-4DA5-93CF-D593BFCC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8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864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057777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2026-08-23T02:41:09.1200000Z</dcterms:created>
  <dcterms:modified xsi:type="dcterms:W3CDTF">2026-08-23T02:41:09.1200000Z</dcterms:modified>
</coreProperties>
</file>