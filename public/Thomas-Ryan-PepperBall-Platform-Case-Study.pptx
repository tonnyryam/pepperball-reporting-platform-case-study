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13ed9d4cd994719" /><Relationship Type="http://schemas.openxmlformats.org/officeDocument/2006/relationships/extended-properties" Target="/docProps/app.xml" Id="Rbd1efb1d064444c1" /><Relationship Type="http://schemas.openxmlformats.org/officeDocument/2006/relationships/officeDocument" Target="/ppt/presentation.xml" Id="R9ca75a16a6d64f3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e92946b0015403e"/>
  </p:sldMasterIdLst>
  <p:notesMasterIdLst>
    <p:notesMasterId xmlns:r="http://schemas.openxmlformats.org/officeDocument/2006/relationships" r:id="R19b7c41849e644e6"/>
  </p:notesMasterIdLst>
  <p:sldIdLst>
    <p:sldId xmlns:r="http://schemas.openxmlformats.org/officeDocument/2006/relationships" id="256" r:id="R76356d9bdb7a4031"/>
    <p:sldId xmlns:r="http://schemas.openxmlformats.org/officeDocument/2006/relationships" id="257" r:id="Rdf5ca53460c74f90"/>
    <p:sldId xmlns:r="http://schemas.openxmlformats.org/officeDocument/2006/relationships" id="258" r:id="Ra7f5dfa04aa44f3c"/>
    <p:sldId xmlns:r="http://schemas.openxmlformats.org/officeDocument/2006/relationships" id="259" r:id="R42f0114ee4b04205"/>
    <p:sldId xmlns:r="http://schemas.openxmlformats.org/officeDocument/2006/relationships" id="260" r:id="R1ae94cfb07934667"/>
    <p:sldId xmlns:r="http://schemas.openxmlformats.org/officeDocument/2006/relationships" id="261" r:id="R14f2c0d508e64123"/>
    <p:sldId xmlns:r="http://schemas.openxmlformats.org/officeDocument/2006/relationships" id="262" r:id="Rfc6a5a81a1b944e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30c60029b3643c5" /><Relationship Type="http://schemas.openxmlformats.org/officeDocument/2006/relationships/slideMaster" Target="/ppt/slideMasters/slideMaster1.xml" Id="Ree92946b0015403e" /><Relationship Type="http://schemas.openxmlformats.org/officeDocument/2006/relationships/notesMaster" Target="/ppt/notesMasters/notesMaster1.xml" Id="R19b7c41849e644e6" /><Relationship Type="http://schemas.openxmlformats.org/officeDocument/2006/relationships/presProps" Target="/ppt/presProps.xml" Id="Rcbed69f816704c78" /><Relationship Type="http://schemas.openxmlformats.org/officeDocument/2006/relationships/tableStyles" Target="/ppt/tableStyles.xml" Id="R5d450243c74943a6" /><Relationship Type="http://schemas.openxmlformats.org/officeDocument/2006/relationships/slide" Target="/ppt/slides/slide1.xml" Id="R76356d9bdb7a4031" /><Relationship Type="http://schemas.openxmlformats.org/officeDocument/2006/relationships/slide" Target="/ppt/slides/slide2.xml" Id="Rdf5ca53460c74f90" /><Relationship Type="http://schemas.openxmlformats.org/officeDocument/2006/relationships/slide" Target="/ppt/slides/slide3.xml" Id="Ra7f5dfa04aa44f3c" /><Relationship Type="http://schemas.openxmlformats.org/officeDocument/2006/relationships/slide" Target="/ppt/slides/slide4.xml" Id="R42f0114ee4b04205" /><Relationship Type="http://schemas.openxmlformats.org/officeDocument/2006/relationships/slide" Target="/ppt/slides/slide5.xml" Id="R1ae94cfb07934667" /><Relationship Type="http://schemas.openxmlformats.org/officeDocument/2006/relationships/slide" Target="/ppt/slides/slide6.xml" Id="R14f2c0d508e64123" /><Relationship Type="http://schemas.openxmlformats.org/officeDocument/2006/relationships/slide" Target="/ppt/slides/slide7.xml" Id="Rfc6a5a81a1b944e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6e4f4c6bbad4dd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b929263b6354ac1" /><Relationship Type="http://schemas.openxmlformats.org/officeDocument/2006/relationships/notesMaster" Target="/ppt/notesMasters/notesMaster1.xml" Id="R7aef5a8f9c774f5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db772cbedea4cf0" /><Relationship Type="http://schemas.openxmlformats.org/officeDocument/2006/relationships/notesMaster" Target="/ppt/notesMasters/notesMaster1.xml" Id="R20c91b3679284a0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76d00c3df984a9e" /><Relationship Type="http://schemas.openxmlformats.org/officeDocument/2006/relationships/notesMaster" Target="/ppt/notesMasters/notesMaster1.xml" Id="R3d8559d5dd274ed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19e7ebe90974318" /><Relationship Type="http://schemas.openxmlformats.org/officeDocument/2006/relationships/notesMaster" Target="/ppt/notesMasters/notesMaster1.xml" Id="R6ab4e853c8a14ab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f87f5b627914fc3" /><Relationship Type="http://schemas.openxmlformats.org/officeDocument/2006/relationships/notesMaster" Target="/ppt/notesMasters/notesMaster1.xml" Id="R07bc42805bfd4be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889b108793e476a" /><Relationship Type="http://schemas.openxmlformats.org/officeDocument/2006/relationships/notesMaster" Target="/ppt/notesMasters/notesMaster1.xml" Id="Ra8f42ff875dd467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a3cec80a70945f9" /><Relationship Type="http://schemas.openxmlformats.org/officeDocument/2006/relationships/notesMaster" Target="/ppt/notesMasters/notesMaster1.xml" Id="Rf6208f1044e74f4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operational change: automation prepares evidence so people spend less time assembling reports and more time interpreting exceptions and context.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sanitized case study, synthetic workbook, and private impact evidence ledger. No external visual assets.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Contrast the old reporting starting point with the prepared starting point. Do not claim the system eliminates review or makes decisions.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sanitized case study, synthetic workbook, and private impact evidence ledger. No external visual assets.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Move through the three rhythms. Emphasize who uses each output and the decision-support job it performs, not a feature inventory.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sanitized case study, synthetic workbook, and private impact evidence ledger. No external visual assets.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reliability is not a final check. It is a sequence of explicit gates with no silent advancement.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sanitized case study, synthetic workbook, and private impact evidence ledger. No external visual assets.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Demonstrate the separation of concerns: retrieval answers from governed evidence, diagnostics observe state, and validation enforces contracts. Each can refuse.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sanitized case study, synthetic workbook, and private impact evidence ledger. No external visual assets.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Label every figure before discussing it. Point to the editable workbook assumptions if an audience wants to challenge the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sanitized case study, synthetic workbook, and private impact evidence ledger. No external visual assets.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resolving the opening: the platform improves the reporting starting point while preserving human authority. Invite questions, then open the workbook or technical reference only if useful.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sanitized case study, synthetic workbook, and private impact evidence ledger. No external visual assets.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7b0047ceb7445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34ce12acd7d4401" /><Relationship Type="http://schemas.openxmlformats.org/officeDocument/2006/relationships/slideLayout" Target="/ppt/slideLayouts/slideLayout1.xml" Id="Rdb92bb3f7cac4df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b92bb3f7cac4df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a1104aded44c23" /><Relationship Type="http://schemas.openxmlformats.org/officeDocument/2006/relationships/notesSlide" Target="/ppt/notesSlides/notesSlide1.xml" Id="R1e776d23d3624d2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608eca70f74d62" /><Relationship Type="http://schemas.openxmlformats.org/officeDocument/2006/relationships/notesSlide" Target="/ppt/notesSlides/notesSlide2.xml" Id="R0840c70e21ec4c7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09ea9d52c143c6" /><Relationship Type="http://schemas.openxmlformats.org/officeDocument/2006/relationships/notesSlide" Target="/ppt/notesSlides/notesSlide3.xml" Id="R1a1883c1f2ba4f5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ab5a0fff5e4527" /><Relationship Type="http://schemas.openxmlformats.org/officeDocument/2006/relationships/notesSlide" Target="/ppt/notesSlides/notesSlide4.xml" Id="R590acc66b7014c4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f4859891824fd4" /><Relationship Type="http://schemas.openxmlformats.org/officeDocument/2006/relationships/notesSlide" Target="/ppt/notesSlides/notesSlide5.xml" Id="R4ff1257ba5d6487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bb028d17864637" /><Relationship Type="http://schemas.openxmlformats.org/officeDocument/2006/relationships/notesSlide" Target="/ppt/notesSlides/notesSlide6.xml" Id="R68bc7bbc974d4ac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1b54cd66714587" /><Relationship Type="http://schemas.openxmlformats.org/officeDocument/2006/relationships/notesSlide" Target="/ppt/notesSlides/notesSlide7.xml" Id="R9ccc2456972447e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DFAC0676-3022-40BB-872C-68B866AAA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028700"/>
            <a:ext cx="7620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171717"/>
                </a:solidFill>
              </a:defRPr>
            </a:pPr>
            <a:r>
              <a:rPr sz="4200" b="1">
                <a:solidFill>
                  <a:srgbClr val="171717"/>
                </a:solidFill>
              </a:rPr>
              <a:t>Prepared reports.</a:t>
            </a:r>
          </a:p>
          <a:p xmlns:a="http://schemas.openxmlformats.org/drawingml/2006/main">
            <a:pPr algn="l">
              <a:buNone/>
              <a:defRPr sz="4200" b="1">
                <a:solidFill>
                  <a:srgbClr val="171717"/>
                </a:solidFill>
              </a:defRPr>
            </a:pPr>
            <a:r>
              <a:rPr sz="4200" b="1">
                <a:solidFill>
                  <a:srgbClr val="171717"/>
                </a:solidFill>
              </a:rPr>
              <a:t>Faster review.</a:t>
            </a:r>
          </a:p>
          <a:p xmlns:a="http://schemas.openxmlformats.org/drawingml/2006/main">
            <a:pPr algn="l">
              <a:buNone/>
              <a:defRPr sz="4200" b="1">
                <a:solidFill>
                  <a:srgbClr val="171717"/>
                </a:solidFill>
              </a:defRPr>
            </a:pPr>
            <a:r>
              <a:rPr sz="4200" b="1">
                <a:solidFill>
                  <a:srgbClr val="171717"/>
                </a:solidFill>
              </a:rPr>
              <a:t>Better operational context.</a:t>
            </a:r>
          </a:p>
        </p:txBody>
      </p:sp>
      <p:sp>
        <p:nvSpPr>
          <p:cNvPr id="2" name="red-rule">
            <a:extLst xmlns:a="http://schemas.openxmlformats.org/drawingml/2006/main">
              <a:ext uri="{FF2B5EF4-FFF2-40B4-BE49-F238E27FC236}">
                <a16:creationId xmlns:a16="http://schemas.microsoft.com/office/drawing/2014/main" id="{75BEE126-24B4-420E-ACC6-07F04393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91000"/>
            <a:ext cx="2000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2B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072D514E-3129-4047-8AAB-15E43A33F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685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26262"/>
                </a:solidFill>
              </a:defRPr>
            </a:pPr>
            <a:r>
              <a:rPr sz="1650" b="0">
                <a:solidFill>
                  <a:srgbClr val="626262"/>
                </a:solidFill>
              </a:rPr>
              <a:t>A guided 5-7 minute case study of a SharePoint-first manufacturing intelligence platform.</a:t>
            </a:r>
          </a:p>
        </p:txBody>
      </p:sp>
      <p:sp>
        <p:nvSpPr>
          <p:cNvPr id="4" name="role">
            <a:extLst xmlns:a="http://schemas.openxmlformats.org/drawingml/2006/main">
              <a:ext uri="{FF2B5EF4-FFF2-40B4-BE49-F238E27FC236}">
                <a16:creationId xmlns:a16="http://schemas.microsoft.com/office/drawing/2014/main" id="{F1A26737-A74D-4C3C-9732-22A7374A1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007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D52B1E"/>
                </a:solidFill>
              </a:defRPr>
            </a:pPr>
            <a:r>
              <a:rPr sz="900" b="1">
                <a:solidFill>
                  <a:srgbClr val="D52B1E"/>
                </a:solidFill>
              </a:rPr>
              <a:t>THOMAS RYAN  ·  FORWARD DEPLOYED ENGINEER INTERN</a:t>
            </a:r>
          </a:p>
        </p:txBody>
      </p:sp>
    </p:spTree>
    <p:extLst>
      <p:ext uri="{BB962C8B-B14F-4D97-AF65-F5344CB8AC3E}">
        <p14:creationId xmlns:p14="http://schemas.microsoft.com/office/powerpoint/2010/main" val="1489419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526F0462-88C1-4BCB-97C4-6A581A21B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52B1E"/>
                </a:solidFill>
              </a:defRPr>
            </a:pPr>
            <a:r>
              <a:rPr sz="1050" b="1">
                <a:solidFill>
                  <a:srgbClr val="D52B1E"/>
                </a:solidFill>
              </a:rPr>
              <a:t>THE OPERATIONAL CHANGE</a:t>
            </a:r>
          </a:p>
        </p:txBody>
      </p:sp>
      <p:sp>
        <p:nvSpPr>
          <p:cNvPr id="2" name="footer">
            <a:extLst xmlns:a="http://schemas.openxmlformats.org/drawingml/2006/main">
              <a:ext uri="{FF2B5EF4-FFF2-40B4-BE49-F238E27FC236}">
                <a16:creationId xmlns:a16="http://schemas.microsoft.com/office/drawing/2014/main" id="{BEF935EF-0B3E-48C0-9DD9-44A318BA2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647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26262"/>
                </a:solidFill>
              </a:defRPr>
            </a:pPr>
            <a:r>
              <a:rPr sz="825" b="1">
                <a:solidFill>
                  <a:srgbClr val="626262"/>
                </a:solidFill>
              </a:rPr>
              <a:t>THOMAS RYAN  |  MANUFACTURING REPORTING PLATFORM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6FE4B3BF-4C30-4337-AD74-6AF8AA0D3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71717"/>
                </a:solidFill>
              </a:defRPr>
            </a:pPr>
            <a:r>
              <a:rPr sz="3225" b="1">
                <a:solidFill>
                  <a:srgbClr val="171717"/>
                </a:solidFill>
              </a:rPr>
              <a:t>The platform changes the starting point.</a:t>
            </a:r>
          </a:p>
        </p:txBody>
      </p:sp>
      <p:sp>
        <p:nvSpPr>
          <p:cNvPr id="4" name="before-label">
            <a:extLst xmlns:a="http://schemas.openxmlformats.org/drawingml/2006/main">
              <a:ext uri="{FF2B5EF4-FFF2-40B4-BE49-F238E27FC236}">
                <a16:creationId xmlns:a16="http://schemas.microsoft.com/office/drawing/2014/main" id="{AA6C2553-CA7B-47F8-8E62-D0C946365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26262"/>
                </a:solidFill>
              </a:defRPr>
            </a:pPr>
            <a:r>
              <a:rPr sz="1125" b="1">
                <a:solidFill>
                  <a:srgbClr val="626262"/>
                </a:solidFill>
              </a:rPr>
              <a:t>BEFORE</a:t>
            </a:r>
          </a:p>
        </p:txBody>
      </p:sp>
      <p:sp>
        <p:nvSpPr>
          <p:cNvPr id="5" name="before">
            <a:extLst xmlns:a="http://schemas.openxmlformats.org/drawingml/2006/main">
              <a:ext uri="{FF2B5EF4-FFF2-40B4-BE49-F238E27FC236}">
                <a16:creationId xmlns:a16="http://schemas.microsoft.com/office/drawing/2014/main" id="{283A80CF-DB30-45B1-985A-7749FEF3C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990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626262"/>
                </a:solidFill>
              </a:defRPr>
            </a:pPr>
            <a:r>
              <a:rPr sz="2100" b="0">
                <a:solidFill>
                  <a:srgbClr val="626262"/>
                </a:solidFill>
              </a:rPr>
              <a:t>Collect → reconcile → organize → manipulate → explain</a:t>
            </a:r>
          </a:p>
        </p:txBody>
      </p:sp>
      <p:sp>
        <p:nvSpPr>
          <p:cNvPr id="6" name="divider">
            <a:extLst xmlns:a="http://schemas.openxmlformats.org/drawingml/2006/main">
              <a:ext uri="{FF2B5EF4-FFF2-40B4-BE49-F238E27FC236}">
                <a16:creationId xmlns:a16="http://schemas.microsoft.com/office/drawing/2014/main" id="{563D63DB-152F-4696-B53E-0F04BB073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C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fter-label">
            <a:extLst xmlns:a="http://schemas.openxmlformats.org/drawingml/2006/main">
              <a:ext uri="{FF2B5EF4-FFF2-40B4-BE49-F238E27FC236}">
                <a16:creationId xmlns:a16="http://schemas.microsoft.com/office/drawing/2014/main" id="{A48EF59C-0858-43B6-83F2-838ED3AB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D52B1E"/>
                </a:solidFill>
              </a:defRPr>
            </a:pPr>
            <a:r>
              <a:rPr sz="1125" b="1">
                <a:solidFill>
                  <a:srgbClr val="D52B1E"/>
                </a:solidFill>
              </a:rPr>
              <a:t>WITH THE PLATFORM</a:t>
            </a:r>
          </a:p>
        </p:txBody>
      </p:sp>
      <p:sp>
        <p:nvSpPr>
          <p:cNvPr id="8" name="after">
            <a:extLst xmlns:a="http://schemas.openxmlformats.org/drawingml/2006/main">
              <a:ext uri="{FF2B5EF4-FFF2-40B4-BE49-F238E27FC236}">
                <a16:creationId xmlns:a16="http://schemas.microsoft.com/office/drawing/2014/main" id="{113E993E-8A51-4235-8A29-621CB5E6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1717"/>
                </a:solidFill>
              </a:defRPr>
            </a:pPr>
            <a:r>
              <a:rPr sz="2700" b="1">
                <a:solidFill>
                  <a:srgbClr val="171717"/>
                </a:solidFill>
              </a:rPr>
              <a:t>Review exceptions → add context → act</a:t>
            </a:r>
          </a:p>
        </p:txBody>
      </p:sp>
      <p:sp>
        <p:nvSpPr>
          <p:cNvPr id="9" name="boundary">
            <a:extLst xmlns:a="http://schemas.openxmlformats.org/drawingml/2006/main">
              <a:ext uri="{FF2B5EF4-FFF2-40B4-BE49-F238E27FC236}">
                <a16:creationId xmlns:a16="http://schemas.microsoft.com/office/drawing/2014/main" id="{570D5600-6FDE-44C5-B927-CA4558CC4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895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D52B1E"/>
                </a:solidFill>
              </a:defRPr>
            </a:pPr>
            <a:r>
              <a:rPr sz="1500" b="1">
                <a:solidFill>
                  <a:srgbClr val="D52B1E"/>
                </a:solidFill>
              </a:rPr>
              <a:t>Automation prepares. Supervisors and managers retain decision authority.</a:t>
            </a:r>
          </a:p>
        </p:txBody>
      </p:sp>
    </p:spTree>
    <p:extLst>
      <p:ext uri="{BB962C8B-B14F-4D97-AF65-F5344CB8AC3E}">
        <p14:creationId xmlns:p14="http://schemas.microsoft.com/office/powerpoint/2010/main" val="20265081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eyebrow">
            <a:extLst xmlns:a="http://schemas.openxmlformats.org/drawingml/2006/main">
              <a:ext uri="{FF2B5EF4-FFF2-40B4-BE49-F238E27FC236}">
                <a16:creationId xmlns:a16="http://schemas.microsoft.com/office/drawing/2014/main" id="{C4694F2D-6E72-4AC7-A3A4-603A14116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52B1E"/>
                </a:solidFill>
              </a:defRPr>
            </a:pPr>
            <a:r>
              <a:rPr sz="1050" b="1">
                <a:solidFill>
                  <a:srgbClr val="D52B1E"/>
                </a:solidFill>
              </a:rPr>
              <a:t>OUTPUTS</a:t>
            </a:r>
          </a:p>
        </p:txBody>
      </p:sp>
      <p:sp>
        <p:nvSpPr>
          <p:cNvPr id="2" name="footer">
            <a:extLst xmlns:a="http://schemas.openxmlformats.org/drawingml/2006/main">
              <a:ext uri="{FF2B5EF4-FFF2-40B4-BE49-F238E27FC236}">
                <a16:creationId xmlns:a16="http://schemas.microsoft.com/office/drawing/2014/main" id="{29232FC9-7AFF-4467-AE2F-904A678C4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647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26262"/>
                </a:solidFill>
              </a:defRPr>
            </a:pPr>
            <a:r>
              <a:rPr sz="825" b="1">
                <a:solidFill>
                  <a:srgbClr val="626262"/>
                </a:solidFill>
              </a:rPr>
              <a:t>THOMAS RYAN  |  MANUFACTURING REPORTING PLATFORM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BE8BEA22-022C-4F8D-96AF-E86DD0E97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71717"/>
                </a:solidFill>
              </a:defRPr>
            </a:pPr>
            <a:r>
              <a:rPr sz="3150" b="1">
                <a:solidFill>
                  <a:srgbClr val="171717"/>
                </a:solidFill>
              </a:rPr>
              <a:t>Each output supports a different operating rhythm.</a:t>
            </a:r>
          </a:p>
        </p:txBody>
      </p:sp>
      <p:sp>
        <p:nvSpPr>
          <p:cNvPr id="4" name="time-0">
            <a:extLst xmlns:a="http://schemas.openxmlformats.org/drawingml/2006/main">
              <a:ext uri="{FF2B5EF4-FFF2-40B4-BE49-F238E27FC236}">
                <a16:creationId xmlns:a16="http://schemas.microsoft.com/office/drawing/2014/main" id="{496FE91E-A7BE-4D7A-9283-4D5FD5494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904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52B1E"/>
                </a:solidFill>
              </a:defRPr>
            </a:pPr>
            <a:r>
              <a:rPr sz="1200" b="1">
                <a:solidFill>
                  <a:srgbClr val="D52B1E"/>
                </a:solidFill>
              </a:rPr>
              <a:t>SHIFT</a:t>
            </a:r>
          </a:p>
        </p:txBody>
      </p:sp>
      <p:sp>
        <p:nvSpPr>
          <p:cNvPr id="5" name="name-0">
            <a:extLst xmlns:a="http://schemas.openxmlformats.org/drawingml/2006/main">
              <a:ext uri="{FF2B5EF4-FFF2-40B4-BE49-F238E27FC236}">
                <a16:creationId xmlns:a16="http://schemas.microsoft.com/office/drawing/2014/main" id="{9428409E-5B2D-4B74-98D6-0C642286D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2288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1717"/>
                </a:solidFill>
              </a:defRPr>
            </a:pPr>
            <a:r>
              <a:rPr sz="2100" b="1">
                <a:solidFill>
                  <a:srgbClr val="171717"/>
                </a:solidFill>
              </a:rPr>
              <a:t>Shift Drafts</a:t>
            </a:r>
          </a:p>
        </p:txBody>
      </p:sp>
      <p:sp>
        <p:nvSpPr>
          <p:cNvPr id="6" name="use-0">
            <a:extLst xmlns:a="http://schemas.openxmlformats.org/drawingml/2006/main">
              <a:ext uri="{FF2B5EF4-FFF2-40B4-BE49-F238E27FC236}">
                <a16:creationId xmlns:a16="http://schemas.microsoft.com/office/drawing/2014/main" id="{A2900FF8-CCA6-45A3-BC97-0D057D9B3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247900"/>
            <a:ext cx="581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26262"/>
                </a:solidFill>
              </a:defRPr>
            </a:pPr>
            <a:r>
              <a:rPr sz="1500" b="0">
                <a:solidFill>
                  <a:srgbClr val="626262"/>
                </a:solidFill>
              </a:rPr>
              <a:t>Supervisors review exceptions, add context, and finalize.</a:t>
            </a:r>
          </a:p>
        </p:txBody>
      </p:sp>
      <p:sp>
        <p:nvSpPr>
          <p:cNvPr id="7" name="line-0">
            <a:extLst xmlns:a="http://schemas.openxmlformats.org/drawingml/2006/main">
              <a:ext uri="{FF2B5EF4-FFF2-40B4-BE49-F238E27FC236}">
                <a16:creationId xmlns:a16="http://schemas.microsoft.com/office/drawing/2014/main" id="{54151205-970D-4C91-8F4F-0B564B7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C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ime-1">
            <a:extLst xmlns:a="http://schemas.openxmlformats.org/drawingml/2006/main">
              <a:ext uri="{FF2B5EF4-FFF2-40B4-BE49-F238E27FC236}">
                <a16:creationId xmlns:a16="http://schemas.microsoft.com/office/drawing/2014/main" id="{ECB25074-5593-41BB-84DC-5EC69A8CD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904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52B1E"/>
                </a:solidFill>
              </a:defRPr>
            </a:pPr>
            <a:r>
              <a:rPr sz="1200" b="1">
                <a:solidFill>
                  <a:srgbClr val="D52B1E"/>
                </a:solidFill>
              </a:rPr>
              <a:t>DAY</a:t>
            </a:r>
          </a:p>
        </p:txBody>
      </p:sp>
      <p:sp>
        <p:nvSpPr>
          <p:cNvPr id="9" name="name-1">
            <a:extLst xmlns:a="http://schemas.openxmlformats.org/drawingml/2006/main">
              <a:ext uri="{FF2B5EF4-FFF2-40B4-BE49-F238E27FC236}">
                <a16:creationId xmlns:a16="http://schemas.microsoft.com/office/drawing/2014/main" id="{C3AAAA9A-0411-4E7B-8BF0-38160A356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4480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1717"/>
                </a:solidFill>
              </a:defRPr>
            </a:pPr>
            <a:r>
              <a:rPr sz="2100" b="1">
                <a:solidFill>
                  <a:srgbClr val="171717"/>
                </a:solidFill>
              </a:rPr>
              <a:t>Daily Production</a:t>
            </a:r>
          </a:p>
        </p:txBody>
      </p:sp>
      <p:sp>
        <p:nvSpPr>
          <p:cNvPr id="10" name="use-1">
            <a:extLst xmlns:a="http://schemas.openxmlformats.org/drawingml/2006/main">
              <a:ext uri="{FF2B5EF4-FFF2-40B4-BE49-F238E27FC236}">
                <a16:creationId xmlns:a16="http://schemas.microsoft.com/office/drawing/2014/main" id="{0F140670-1198-41A0-9CBD-B69F08E39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467100"/>
            <a:ext cx="581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26262"/>
                </a:solidFill>
              </a:defRPr>
            </a:pPr>
            <a:r>
              <a:rPr sz="1500" b="0">
                <a:solidFill>
                  <a:srgbClr val="626262"/>
                </a:solidFill>
              </a:rPr>
              <a:t>Managers investigate constraints and prioritize follow-up.</a:t>
            </a:r>
          </a:p>
        </p:txBody>
      </p:sp>
      <p:sp>
        <p:nvSpPr>
          <p:cNvPr id="11" name="line-1">
            <a:extLst xmlns:a="http://schemas.openxmlformats.org/drawingml/2006/main">
              <a:ext uri="{FF2B5EF4-FFF2-40B4-BE49-F238E27FC236}">
                <a16:creationId xmlns:a16="http://schemas.microsoft.com/office/drawing/2014/main" id="{0126EFD8-2813-4199-AC45-BCB878403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C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ime-2">
            <a:extLst xmlns:a="http://schemas.openxmlformats.org/drawingml/2006/main">
              <a:ext uri="{FF2B5EF4-FFF2-40B4-BE49-F238E27FC236}">
                <a16:creationId xmlns:a16="http://schemas.microsoft.com/office/drawing/2014/main" id="{4F57FFD2-9B27-4EE8-AAA8-4411DA65B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5350"/>
            <a:ext cx="904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52B1E"/>
                </a:solidFill>
              </a:defRPr>
            </a:pPr>
            <a:r>
              <a:rPr sz="1200" b="1">
                <a:solidFill>
                  <a:srgbClr val="D52B1E"/>
                </a:solidFill>
              </a:rPr>
              <a:t>WEEK</a:t>
            </a:r>
          </a:p>
        </p:txBody>
      </p:sp>
      <p:sp>
        <p:nvSpPr>
          <p:cNvPr id="13" name="name-2">
            <a:extLst xmlns:a="http://schemas.openxmlformats.org/drawingml/2006/main">
              <a:ext uri="{FF2B5EF4-FFF2-40B4-BE49-F238E27FC236}">
                <a16:creationId xmlns:a16="http://schemas.microsoft.com/office/drawing/2014/main" id="{4F7E044F-755F-4C20-9651-648BC1E2C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672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1717"/>
                </a:solidFill>
              </a:defRPr>
            </a:pPr>
            <a:r>
              <a:rPr sz="2100" b="1">
                <a:solidFill>
                  <a:srgbClr val="171717"/>
                </a:solidFill>
              </a:rPr>
              <a:t>Production + Downtime</a:t>
            </a:r>
          </a:p>
        </p:txBody>
      </p:sp>
      <p:sp>
        <p:nvSpPr>
          <p:cNvPr id="14" name="use-2">
            <a:extLst xmlns:a="http://schemas.openxmlformats.org/drawingml/2006/main">
              <a:ext uri="{FF2B5EF4-FFF2-40B4-BE49-F238E27FC236}">
                <a16:creationId xmlns:a16="http://schemas.microsoft.com/office/drawing/2014/main" id="{4499348A-5085-44C8-BC1A-945240F08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686300"/>
            <a:ext cx="581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26262"/>
                </a:solidFill>
              </a:defRPr>
            </a:pPr>
            <a:r>
              <a:rPr sz="1500" b="0">
                <a:solidFill>
                  <a:srgbClr val="626262"/>
                </a:solidFill>
              </a:rPr>
              <a:t>Teams distinguish recurring problems from isolated events.</a:t>
            </a:r>
          </a:p>
        </p:txBody>
      </p:sp>
    </p:spTree>
    <p:extLst>
      <p:ext uri="{BB962C8B-B14F-4D97-AF65-F5344CB8AC3E}">
        <p14:creationId xmlns:p14="http://schemas.microsoft.com/office/powerpoint/2010/main" val="6034229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eyebrow">
            <a:extLst xmlns:a="http://schemas.openxmlformats.org/drawingml/2006/main">
              <a:ext uri="{FF2B5EF4-FFF2-40B4-BE49-F238E27FC236}">
                <a16:creationId xmlns:a16="http://schemas.microsoft.com/office/drawing/2014/main" id="{B11923D8-15B8-4DD4-BDEA-6A77D6072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52B1E"/>
                </a:solidFill>
              </a:defRPr>
            </a:pPr>
            <a:r>
              <a:rPr sz="1050" b="1">
                <a:solidFill>
                  <a:srgbClr val="D52B1E"/>
                </a:solidFill>
              </a:rPr>
              <a:t>TRACEABLE WORKFLOW</a:t>
            </a:r>
          </a:p>
        </p:txBody>
      </p:sp>
      <p:sp>
        <p:nvSpPr>
          <p:cNvPr id="2" name="footer">
            <a:extLst xmlns:a="http://schemas.openxmlformats.org/drawingml/2006/main">
              <a:ext uri="{FF2B5EF4-FFF2-40B4-BE49-F238E27FC236}">
                <a16:creationId xmlns:a16="http://schemas.microsoft.com/office/drawing/2014/main" id="{6B7A8599-1E67-464A-B655-78BE11F29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647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26262"/>
                </a:solidFill>
              </a:defRPr>
            </a:pPr>
            <a:r>
              <a:rPr sz="825" b="1">
                <a:solidFill>
                  <a:srgbClr val="626262"/>
                </a:solidFill>
              </a:rPr>
              <a:t>THOMAS RYAN  |  MANUFACTURING REPORTING PLATFORM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63CB7263-2065-4881-85BB-28339A4BA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71717"/>
                </a:solidFill>
              </a:defRPr>
            </a:pPr>
            <a:r>
              <a:rPr sz="3150" b="1">
                <a:solidFill>
                  <a:srgbClr val="171717"/>
                </a:solidFill>
              </a:rPr>
              <a:t>Evidence advances through explicit gates.</a:t>
            </a:r>
          </a:p>
        </p:txBody>
      </p:sp>
      <p:sp>
        <p:nvSpPr>
          <p:cNvPr id="4" name="edge-0">
            <a:extLst xmlns:a="http://schemas.openxmlformats.org/drawingml/2006/main">
              <a:ext uri="{FF2B5EF4-FFF2-40B4-BE49-F238E27FC236}">
                <a16:creationId xmlns:a16="http://schemas.microsoft.com/office/drawing/2014/main" id="{C5176195-B6F1-44E2-9BEE-88A2A252E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07657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2B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node-0">
            <a:extLst xmlns:a="http://schemas.openxmlformats.org/drawingml/2006/main">
              <a:ext uri="{FF2B5EF4-FFF2-40B4-BE49-F238E27FC236}">
                <a16:creationId xmlns:a16="http://schemas.microsoft.com/office/drawing/2014/main" id="{5F2248A5-4930-4A7A-9180-7F615857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600200" cy="17145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6" name="num-0">
            <a:extLst xmlns:a="http://schemas.openxmlformats.org/drawingml/2006/main">
              <a:ext uri="{FF2B5EF4-FFF2-40B4-BE49-F238E27FC236}">
                <a16:creationId xmlns:a16="http://schemas.microsoft.com/office/drawing/2014/main" id="{99283141-842D-44E9-ACA9-D1FCB2D88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765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52B1E"/>
                </a:solidFill>
              </a:defRPr>
            </a:pPr>
            <a:r>
              <a:rPr sz="975" b="1">
                <a:solidFill>
                  <a:srgbClr val="D52B1E"/>
                </a:solidFill>
              </a:rPr>
              <a:t>01</a:t>
            </a:r>
          </a:p>
        </p:txBody>
      </p:sp>
      <p:sp>
        <p:nvSpPr>
          <p:cNvPr id="7" name="step-0">
            <a:extLst xmlns:a="http://schemas.openxmlformats.org/drawingml/2006/main">
              <a:ext uri="{FF2B5EF4-FFF2-40B4-BE49-F238E27FC236}">
                <a16:creationId xmlns:a16="http://schemas.microsoft.com/office/drawing/2014/main" id="{10949AFB-2531-49D3-92B6-9DDE03769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3370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7"/>
                </a:solidFill>
              </a:defRPr>
            </a:pPr>
            <a:r>
              <a:rPr sz="1350" b="1">
                <a:solidFill>
                  <a:srgbClr val="171717"/>
                </a:solidFill>
              </a:rPr>
              <a:t>INPUT</a:t>
            </a:r>
          </a:p>
        </p:txBody>
      </p:sp>
      <p:sp>
        <p:nvSpPr>
          <p:cNvPr id="8" name="desc-0">
            <a:extLst xmlns:a="http://schemas.openxmlformats.org/drawingml/2006/main">
              <a:ext uri="{FF2B5EF4-FFF2-40B4-BE49-F238E27FC236}">
                <a16:creationId xmlns:a16="http://schemas.microsoft.com/office/drawing/2014/main" id="{7BAF870D-6865-4ABF-9E40-5BC96BBD0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52800"/>
            <a:ext cx="1257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6262"/>
                </a:solidFill>
              </a:defRPr>
            </a:pPr>
            <a:r>
              <a:rPr sz="1125" b="0">
                <a:solidFill>
                  <a:srgbClr val="626262"/>
                </a:solidFill>
              </a:rPr>
              <a:t>Forms, files, events</a:t>
            </a:r>
          </a:p>
        </p:txBody>
      </p:sp>
      <p:sp>
        <p:nvSpPr>
          <p:cNvPr id="9" name="edge-1">
            <a:extLst xmlns:a="http://schemas.openxmlformats.org/drawingml/2006/main">
              <a:ext uri="{FF2B5EF4-FFF2-40B4-BE49-F238E27FC236}">
                <a16:creationId xmlns:a16="http://schemas.microsoft.com/office/drawing/2014/main" id="{70F2F37B-4410-4DCC-BEC8-651EE590F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7657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2B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node-1">
            <a:extLst xmlns:a="http://schemas.openxmlformats.org/drawingml/2006/main">
              <a:ext uri="{FF2B5EF4-FFF2-40B4-BE49-F238E27FC236}">
                <a16:creationId xmlns:a16="http://schemas.microsoft.com/office/drawing/2014/main" id="{6ECD3FB3-41B3-457E-B9EA-943D0DB27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305050"/>
            <a:ext cx="1600200" cy="17145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11" name="num-1">
            <a:extLst xmlns:a="http://schemas.openxmlformats.org/drawingml/2006/main">
              <a:ext uri="{FF2B5EF4-FFF2-40B4-BE49-F238E27FC236}">
                <a16:creationId xmlns:a16="http://schemas.microsoft.com/office/drawing/2014/main" id="{A8E84F0B-EE51-40EB-9CE8-58A341218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4765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52B1E"/>
                </a:solidFill>
              </a:defRPr>
            </a:pPr>
            <a:r>
              <a:rPr sz="975" b="1">
                <a:solidFill>
                  <a:srgbClr val="D52B1E"/>
                </a:solidFill>
              </a:rPr>
              <a:t>02</a:t>
            </a:r>
          </a:p>
        </p:txBody>
      </p:sp>
      <p:sp>
        <p:nvSpPr>
          <p:cNvPr id="12" name="step-1">
            <a:extLst xmlns:a="http://schemas.openxmlformats.org/drawingml/2006/main">
              <a:ext uri="{FF2B5EF4-FFF2-40B4-BE49-F238E27FC236}">
                <a16:creationId xmlns:a16="http://schemas.microsoft.com/office/drawing/2014/main" id="{DDA3A81A-DC2C-4A95-B712-5A2385318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3370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7"/>
                </a:solidFill>
              </a:defRPr>
            </a:pPr>
            <a:r>
              <a:rPr sz="1350" b="1">
                <a:solidFill>
                  <a:srgbClr val="171717"/>
                </a:solidFill>
              </a:rPr>
              <a:t>PREPARE</a:t>
            </a:r>
          </a:p>
        </p:txBody>
      </p:sp>
      <p:sp>
        <p:nvSpPr>
          <p:cNvPr id="13" name="desc-1">
            <a:extLst xmlns:a="http://schemas.openxmlformats.org/drawingml/2006/main">
              <a:ext uri="{FF2B5EF4-FFF2-40B4-BE49-F238E27FC236}">
                <a16:creationId xmlns:a16="http://schemas.microsoft.com/office/drawing/2014/main" id="{81AFF797-DE07-4D67-B867-B264471C1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352800"/>
            <a:ext cx="1257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6262"/>
                </a:solidFill>
              </a:defRPr>
            </a:pPr>
            <a:r>
              <a:rPr sz="1125" b="0">
                <a:solidFill>
                  <a:srgbClr val="626262"/>
                </a:solidFill>
              </a:rPr>
              <a:t>Ingest, reconcile, link</a:t>
            </a:r>
          </a:p>
        </p:txBody>
      </p:sp>
      <p:sp>
        <p:nvSpPr>
          <p:cNvPr id="14" name="edge-2">
            <a:extLst xmlns:a="http://schemas.openxmlformats.org/drawingml/2006/main">
              <a:ext uri="{FF2B5EF4-FFF2-40B4-BE49-F238E27FC236}">
                <a16:creationId xmlns:a16="http://schemas.microsoft.com/office/drawing/2014/main" id="{BEBED2CB-6558-4D0D-9A91-E2FE11EB6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7657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2B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node-2">
            <a:extLst xmlns:a="http://schemas.openxmlformats.org/drawingml/2006/main">
              <a:ext uri="{FF2B5EF4-FFF2-40B4-BE49-F238E27FC236}">
                <a16:creationId xmlns:a16="http://schemas.microsoft.com/office/drawing/2014/main" id="{CB49647C-DEA1-4527-B480-D0B177A55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05050"/>
            <a:ext cx="1600200" cy="17145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16" name="num-2">
            <a:extLst xmlns:a="http://schemas.openxmlformats.org/drawingml/2006/main">
              <a:ext uri="{FF2B5EF4-FFF2-40B4-BE49-F238E27FC236}">
                <a16:creationId xmlns:a16="http://schemas.microsoft.com/office/drawing/2014/main" id="{B240D0BC-7723-4C03-9E36-62094246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4765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52B1E"/>
                </a:solidFill>
              </a:defRPr>
            </a:pPr>
            <a:r>
              <a:rPr sz="975" b="1">
                <a:solidFill>
                  <a:srgbClr val="D52B1E"/>
                </a:solidFill>
              </a:rPr>
              <a:t>03</a:t>
            </a:r>
          </a:p>
        </p:txBody>
      </p:sp>
      <p:sp>
        <p:nvSpPr>
          <p:cNvPr id="17" name="step-2">
            <a:extLst xmlns:a="http://schemas.openxmlformats.org/drawingml/2006/main">
              <a:ext uri="{FF2B5EF4-FFF2-40B4-BE49-F238E27FC236}">
                <a16:creationId xmlns:a16="http://schemas.microsoft.com/office/drawing/2014/main" id="{C57B27C8-E28F-4237-8CC0-3AF6FA1C5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93370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7"/>
                </a:solidFill>
              </a:defRPr>
            </a:pPr>
            <a:r>
              <a:rPr sz="1350" b="1">
                <a:solidFill>
                  <a:srgbClr val="171717"/>
                </a:solidFill>
              </a:rPr>
              <a:t>VALIDATE</a:t>
            </a:r>
          </a:p>
        </p:txBody>
      </p:sp>
      <p:sp>
        <p:nvSpPr>
          <p:cNvPr id="18" name="desc-2">
            <a:extLst xmlns:a="http://schemas.openxmlformats.org/drawingml/2006/main">
              <a:ext uri="{FF2B5EF4-FFF2-40B4-BE49-F238E27FC236}">
                <a16:creationId xmlns:a16="http://schemas.microsoft.com/office/drawing/2014/main" id="{3031A5DE-5B70-49F5-9035-10A6494F0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52800"/>
            <a:ext cx="1257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6262"/>
                </a:solidFill>
              </a:defRPr>
            </a:pPr>
            <a:r>
              <a:rPr sz="1125" b="0">
                <a:solidFill>
                  <a:srgbClr val="626262"/>
                </a:solidFill>
              </a:rPr>
              <a:t>Contracts, semantics</a:t>
            </a:r>
          </a:p>
        </p:txBody>
      </p:sp>
      <p:sp>
        <p:nvSpPr>
          <p:cNvPr id="19" name="edge-3">
            <a:extLst xmlns:a="http://schemas.openxmlformats.org/drawingml/2006/main">
              <a:ext uri="{FF2B5EF4-FFF2-40B4-BE49-F238E27FC236}">
                <a16:creationId xmlns:a16="http://schemas.microsoft.com/office/drawing/2014/main" id="{8DCB2936-74E5-4428-99A1-D9F059B93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07657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2B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node-3">
            <a:extLst xmlns:a="http://schemas.openxmlformats.org/drawingml/2006/main">
              <a:ext uri="{FF2B5EF4-FFF2-40B4-BE49-F238E27FC236}">
                <a16:creationId xmlns:a16="http://schemas.microsoft.com/office/drawing/2014/main" id="{EF2C4C9F-F82D-4F97-A98F-4E4BFDE1F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305050"/>
            <a:ext cx="1600200" cy="17145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21" name="num-3">
            <a:extLst xmlns:a="http://schemas.openxmlformats.org/drawingml/2006/main">
              <a:ext uri="{FF2B5EF4-FFF2-40B4-BE49-F238E27FC236}">
                <a16:creationId xmlns:a16="http://schemas.microsoft.com/office/drawing/2014/main" id="{8EF14047-F1A7-4871-823F-72CE2216F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765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52B1E"/>
                </a:solidFill>
              </a:defRPr>
            </a:pPr>
            <a:r>
              <a:rPr sz="975" b="1">
                <a:solidFill>
                  <a:srgbClr val="D52B1E"/>
                </a:solidFill>
              </a:rPr>
              <a:t>04</a:t>
            </a:r>
          </a:p>
        </p:txBody>
      </p:sp>
      <p:sp>
        <p:nvSpPr>
          <p:cNvPr id="22" name="step-3">
            <a:extLst xmlns:a="http://schemas.openxmlformats.org/drawingml/2006/main">
              <a:ext uri="{FF2B5EF4-FFF2-40B4-BE49-F238E27FC236}">
                <a16:creationId xmlns:a16="http://schemas.microsoft.com/office/drawing/2014/main" id="{A2590D92-82E6-45AD-B202-92A43CC32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93370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7"/>
                </a:solidFill>
              </a:defRPr>
            </a:pPr>
            <a:r>
              <a:rPr sz="1350" b="1">
                <a:solidFill>
                  <a:srgbClr val="171717"/>
                </a:solidFill>
              </a:rPr>
              <a:t>DELIVER</a:t>
            </a:r>
          </a:p>
        </p:txBody>
      </p:sp>
      <p:sp>
        <p:nvSpPr>
          <p:cNvPr id="23" name="desc-3">
            <a:extLst xmlns:a="http://schemas.openxmlformats.org/drawingml/2006/main">
              <a:ext uri="{FF2B5EF4-FFF2-40B4-BE49-F238E27FC236}">
                <a16:creationId xmlns:a16="http://schemas.microsoft.com/office/drawing/2014/main" id="{C0D5F81D-846D-4ABB-A10A-B42991D36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352800"/>
            <a:ext cx="1257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6262"/>
                </a:solidFill>
              </a:defRPr>
            </a:pPr>
            <a:r>
              <a:rPr sz="1125" b="0">
                <a:solidFill>
                  <a:srgbClr val="626262"/>
                </a:solidFill>
              </a:rPr>
              <a:t>Reports, dashboard</a:t>
            </a:r>
          </a:p>
        </p:txBody>
      </p:sp>
      <p:sp>
        <p:nvSpPr>
          <p:cNvPr id="24" name="node-4">
            <a:extLst xmlns:a="http://schemas.openxmlformats.org/drawingml/2006/main">
              <a:ext uri="{FF2B5EF4-FFF2-40B4-BE49-F238E27FC236}">
                <a16:creationId xmlns:a16="http://schemas.microsoft.com/office/drawing/2014/main" id="{4C197F9F-F09F-4940-A6B7-4476F8A80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305050"/>
            <a:ext cx="1600200" cy="17145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D52B1E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25" name="num-4">
            <a:extLst xmlns:a="http://schemas.openxmlformats.org/drawingml/2006/main">
              <a:ext uri="{FF2B5EF4-FFF2-40B4-BE49-F238E27FC236}">
                <a16:creationId xmlns:a16="http://schemas.microsoft.com/office/drawing/2014/main" id="{1ECF6EE0-D192-4315-94C8-96CA1A4D9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4765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6" name="step-4">
            <a:extLst xmlns:a="http://schemas.openxmlformats.org/drawingml/2006/main">
              <a:ext uri="{FF2B5EF4-FFF2-40B4-BE49-F238E27FC236}">
                <a16:creationId xmlns:a16="http://schemas.microsoft.com/office/drawing/2014/main" id="{C0136629-38B7-44A2-AF3E-97B3DAA3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93370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REVIEW</a:t>
            </a:r>
          </a:p>
        </p:txBody>
      </p:sp>
      <p:sp>
        <p:nvSpPr>
          <p:cNvPr id="27" name="desc-4">
            <a:extLst xmlns:a="http://schemas.openxmlformats.org/drawingml/2006/main">
              <a:ext uri="{FF2B5EF4-FFF2-40B4-BE49-F238E27FC236}">
                <a16:creationId xmlns:a16="http://schemas.microsoft.com/office/drawing/2014/main" id="{453E6BAA-0DAD-4113-A357-07FA062E2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52800"/>
            <a:ext cx="1257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Human judgment</a:t>
            </a:r>
          </a:p>
        </p:txBody>
      </p:sp>
      <p:sp>
        <p:nvSpPr>
          <p:cNvPr id="28" name="gate-note">
            <a:extLst xmlns:a="http://schemas.openxmlformats.org/drawingml/2006/main">
              <a:ext uri="{FF2B5EF4-FFF2-40B4-BE49-F238E27FC236}">
                <a16:creationId xmlns:a16="http://schemas.microsoft.com/office/drawing/2014/main" id="{1B4A135C-1F97-43E0-A26D-7C2DC3E41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71717"/>
                </a:solidFill>
              </a:defRPr>
            </a:pPr>
            <a:r>
              <a:rPr sz="1725" b="1">
                <a:solidFill>
                  <a:srgbClr val="171717"/>
                </a:solidFill>
              </a:rPr>
              <a:t>Missing or ambiguous evidence stops; accepted writes settle through exact readback.</a:t>
            </a:r>
          </a:p>
        </p:txBody>
      </p:sp>
    </p:spTree>
    <p:extLst>
      <p:ext uri="{BB962C8B-B14F-4D97-AF65-F5344CB8AC3E}">
        <p14:creationId xmlns:p14="http://schemas.microsoft.com/office/powerpoint/2010/main" val="7322959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eyebrow">
            <a:extLst xmlns:a="http://schemas.openxmlformats.org/drawingml/2006/main">
              <a:ext uri="{FF2B5EF4-FFF2-40B4-BE49-F238E27FC236}">
                <a16:creationId xmlns:a16="http://schemas.microsoft.com/office/drawing/2014/main" id="{8C04899E-C5C4-4583-BD0E-9150B1F42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52B1E"/>
                </a:solidFill>
              </a:defRPr>
            </a:pPr>
            <a:r>
              <a:rPr sz="1050" b="1">
                <a:solidFill>
                  <a:srgbClr val="D52B1E"/>
                </a:solidFill>
              </a:rPr>
              <a:t>REPORTING ASSISTANT</a:t>
            </a:r>
          </a:p>
        </p:txBody>
      </p:sp>
      <p:sp>
        <p:nvSpPr>
          <p:cNvPr id="2" name="footer">
            <a:extLst xmlns:a="http://schemas.openxmlformats.org/drawingml/2006/main">
              <a:ext uri="{FF2B5EF4-FFF2-40B4-BE49-F238E27FC236}">
                <a16:creationId xmlns:a16="http://schemas.microsoft.com/office/drawing/2014/main" id="{71EBD661-374A-4AB2-8E7A-AA73F273B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647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26262"/>
                </a:solidFill>
              </a:defRPr>
            </a:pPr>
            <a:r>
              <a:rPr sz="825" b="1">
                <a:solidFill>
                  <a:srgbClr val="626262"/>
                </a:solidFill>
              </a:rPr>
              <a:t>THOMAS RYAN  |  MANUFACTURING REPORTING PLATFORM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133FD2EA-803E-4563-A437-9148EB010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71717"/>
                </a:solidFill>
              </a:defRPr>
            </a:pPr>
            <a:r>
              <a:rPr sz="3000" b="1">
                <a:solidFill>
                  <a:srgbClr val="171717"/>
                </a:solidFill>
              </a:rPr>
              <a:t>One assistant. Three controlled capabilities.</a:t>
            </a:r>
          </a:p>
        </p:txBody>
      </p:sp>
      <p:sp>
        <p:nvSpPr>
          <p:cNvPr id="4" name="retrieve">
            <a:extLst xmlns:a="http://schemas.openxmlformats.org/drawingml/2006/main">
              <a:ext uri="{FF2B5EF4-FFF2-40B4-BE49-F238E27FC236}">
                <a16:creationId xmlns:a16="http://schemas.microsoft.com/office/drawing/2014/main" id="{0DF3EF07-2E51-4415-AB7A-E42C3223C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D52B1E"/>
                </a:solidFill>
              </a:defRPr>
            </a:pPr>
            <a:r>
              <a:rPr sz="1125" b="1">
                <a:solidFill>
                  <a:srgbClr val="D52B1E"/>
                </a:solidFill>
              </a:rPr>
              <a:t>RETRIEVE</a:t>
            </a:r>
          </a:p>
        </p:txBody>
      </p:sp>
      <p:sp>
        <p:nvSpPr>
          <p:cNvPr id="5" name="retrieve-copy">
            <a:extLst xmlns:a="http://schemas.openxmlformats.org/drawingml/2006/main">
              <a:ext uri="{FF2B5EF4-FFF2-40B4-BE49-F238E27FC236}">
                <a16:creationId xmlns:a16="http://schemas.microsoft.com/office/drawing/2014/main" id="{866052FF-EF4A-4724-A7E3-315D6649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266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1717"/>
                </a:solidFill>
              </a:defRPr>
            </a:pPr>
            <a:r>
              <a:rPr sz="1800" b="1">
                <a:solidFill>
                  <a:srgbClr val="171717"/>
                </a:solidFill>
              </a:rPr>
              <a:t>Find cited information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171717"/>
                </a:solidFill>
              </a:defRPr>
            </a:pPr>
            <a:r>
              <a:rPr sz="1800" b="1">
                <a:solidFill>
                  <a:srgbClr val="171717"/>
                </a:solidFill>
              </a:rPr>
              <a:t>Governed sources + fallback</a:t>
            </a:r>
          </a:p>
        </p:txBody>
      </p:sp>
      <p:sp>
        <p:nvSpPr>
          <p:cNvPr id="6" name="diagnose">
            <a:extLst xmlns:a="http://schemas.openxmlformats.org/drawingml/2006/main">
              <a:ext uri="{FF2B5EF4-FFF2-40B4-BE49-F238E27FC236}">
                <a16:creationId xmlns:a16="http://schemas.microsoft.com/office/drawing/2014/main" id="{8AF8C391-B1BC-4708-9A2B-2677796E4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3812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D52B1E"/>
                </a:solidFill>
              </a:defRPr>
            </a:pPr>
            <a:r>
              <a:rPr sz="1125" b="1">
                <a:solidFill>
                  <a:srgbClr val="D52B1E"/>
                </a:solidFill>
              </a:rPr>
              <a:t>DIAGNOSE</a:t>
            </a:r>
          </a:p>
        </p:txBody>
      </p:sp>
      <p:sp>
        <p:nvSpPr>
          <p:cNvPr id="7" name="diagnose-copy">
            <a:extLst xmlns:a="http://schemas.openxmlformats.org/drawingml/2006/main">
              <a:ext uri="{FF2B5EF4-FFF2-40B4-BE49-F238E27FC236}">
                <a16:creationId xmlns:a16="http://schemas.microsoft.com/office/drawing/2014/main" id="{6C77C540-0CA3-49C1-8049-AC193F1E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78130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1717"/>
                </a:solidFill>
              </a:defRPr>
            </a:pPr>
            <a:r>
              <a:rPr sz="1800" b="1">
                <a:solidFill>
                  <a:srgbClr val="171717"/>
                </a:solidFill>
              </a:rPr>
              <a:t>Diagnose report problems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171717"/>
                </a:solidFill>
              </a:defRPr>
            </a:pPr>
            <a:r>
              <a:rPr sz="1800" b="1">
                <a:solidFill>
                  <a:srgbClr val="171717"/>
                </a:solidFill>
              </a:rPr>
              <a:t>Exceptions + settlement</a:t>
            </a:r>
          </a:p>
        </p:txBody>
      </p:sp>
      <p:sp>
        <p:nvSpPr>
          <p:cNvPr id="8" name="validate">
            <a:extLst xmlns:a="http://schemas.openxmlformats.org/drawingml/2006/main">
              <a:ext uri="{FF2B5EF4-FFF2-40B4-BE49-F238E27FC236}">
                <a16:creationId xmlns:a16="http://schemas.microsoft.com/office/drawing/2014/main" id="{B0A8B7D5-AF5A-465F-9734-6BCC4BD9E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3812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D52B1E"/>
                </a:solidFill>
              </a:defRPr>
            </a:pPr>
            <a:r>
              <a:rPr sz="1125" b="1">
                <a:solidFill>
                  <a:srgbClr val="D52B1E"/>
                </a:solidFill>
              </a:rPr>
              <a:t>VALIDATE</a:t>
            </a:r>
          </a:p>
        </p:txBody>
      </p:sp>
      <p:sp>
        <p:nvSpPr>
          <p:cNvPr id="9" name="validate-copy">
            <a:extLst xmlns:a="http://schemas.openxmlformats.org/drawingml/2006/main">
              <a:ext uri="{FF2B5EF4-FFF2-40B4-BE49-F238E27FC236}">
                <a16:creationId xmlns:a16="http://schemas.microsoft.com/office/drawing/2014/main" id="{D50C1F53-A4B3-4F50-B209-187B0C097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8130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1717"/>
                </a:solidFill>
              </a:defRPr>
            </a:pPr>
            <a:r>
              <a:rPr sz="1800" b="1">
                <a:solidFill>
                  <a:srgbClr val="171717"/>
                </a:solidFill>
              </a:rPr>
              <a:t>Validate evidence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171717"/>
                </a:solidFill>
              </a:defRPr>
            </a:pPr>
            <a:r>
              <a:rPr sz="1800" b="1">
                <a:solidFill>
                  <a:srgbClr val="171717"/>
                </a:solidFill>
              </a:rPr>
              <a:t>Contracts + refusal</a:t>
            </a:r>
          </a:p>
        </p:txBody>
      </p:sp>
      <p:sp>
        <p:nvSpPr>
          <p:cNvPr id="10" name="boundary-rule">
            <a:extLst xmlns:a="http://schemas.openxmlformats.org/drawingml/2006/main">
              <a:ext uri="{FF2B5EF4-FFF2-40B4-BE49-F238E27FC236}">
                <a16:creationId xmlns:a16="http://schemas.microsoft.com/office/drawing/2014/main" id="{D3CC0D2D-57BF-4490-A599-2B7C5F928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62450"/>
            <a:ext cx="10287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2B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boundary">
            <a:extLst xmlns:a="http://schemas.openxmlformats.org/drawingml/2006/main">
              <a:ext uri="{FF2B5EF4-FFF2-40B4-BE49-F238E27FC236}">
                <a16:creationId xmlns:a16="http://schemas.microsoft.com/office/drawing/2014/main" id="{F72A7FF4-D50D-48EA-9126-875DA0513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1028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71717"/>
                </a:solidFill>
              </a:defRPr>
            </a:pPr>
            <a:r>
              <a:rPr sz="1875" b="1">
                <a:solidFill>
                  <a:srgbClr val="171717"/>
                </a:solidFill>
              </a:rPr>
              <a:t>No autonomous decisions · no invented evidence · no publication authority</a:t>
            </a:r>
          </a:p>
        </p:txBody>
      </p:sp>
    </p:spTree>
    <p:extLst>
      <p:ext uri="{BB962C8B-B14F-4D97-AF65-F5344CB8AC3E}">
        <p14:creationId xmlns:p14="http://schemas.microsoft.com/office/powerpoint/2010/main" val="7064645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eyebrow">
            <a:extLst xmlns:a="http://schemas.openxmlformats.org/drawingml/2006/main">
              <a:ext uri="{FF2B5EF4-FFF2-40B4-BE49-F238E27FC236}">
                <a16:creationId xmlns:a16="http://schemas.microsoft.com/office/drawing/2014/main" id="{BAD3AFF2-DE29-42DA-A25A-980AC098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52B1E"/>
                </a:solidFill>
              </a:defRPr>
            </a:pPr>
            <a:r>
              <a:rPr sz="1050" b="1">
                <a:solidFill>
                  <a:srgbClr val="D52B1E"/>
                </a:solidFill>
              </a:rPr>
              <a:t>QUALIFIED VALUE</a:t>
            </a:r>
          </a:p>
        </p:txBody>
      </p:sp>
      <p:sp>
        <p:nvSpPr>
          <p:cNvPr id="2" name="footer">
            <a:extLst xmlns:a="http://schemas.openxmlformats.org/drawingml/2006/main">
              <a:ext uri="{FF2B5EF4-FFF2-40B4-BE49-F238E27FC236}">
                <a16:creationId xmlns:a16="http://schemas.microsoft.com/office/drawing/2014/main" id="{331669C0-8908-4952-9360-53D777935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647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26262"/>
                </a:solidFill>
              </a:defRPr>
            </a:pPr>
            <a:r>
              <a:rPr sz="825" b="1">
                <a:solidFill>
                  <a:srgbClr val="626262"/>
                </a:solidFill>
              </a:rPr>
              <a:t>THOMAS RYAN  |  MANUFACTURING REPORTING PLATFORM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6B891F0A-4E8D-4C2B-908C-13CE1CBD5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001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71717"/>
                </a:solidFill>
              </a:defRPr>
            </a:pPr>
            <a:r>
              <a:rPr sz="3150" b="1">
                <a:solidFill>
                  <a:srgbClr val="171717"/>
                </a:solidFill>
              </a:rPr>
              <a:t>The value model is inspectable, not promotional.</a:t>
            </a:r>
          </a:p>
        </p:txBody>
      </p:sp>
      <p:sp>
        <p:nvSpPr>
          <p:cNvPr id="4" name="labor-big">
            <a:extLst xmlns:a="http://schemas.openxmlformats.org/drawingml/2006/main">
              <a:ext uri="{FF2B5EF4-FFF2-40B4-BE49-F238E27FC236}">
                <a16:creationId xmlns:a16="http://schemas.microsoft.com/office/drawing/2014/main" id="{53A40CEB-3ADF-4B37-952E-206F5085E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D52B1E"/>
                </a:solidFill>
              </a:defRPr>
            </a:pPr>
            <a:r>
              <a:rPr sz="5400" b="1">
                <a:solidFill>
                  <a:srgbClr val="D52B1E"/>
                </a:solidFill>
              </a:rPr>
              <a:t>30</a:t>
            </a:r>
          </a:p>
        </p:txBody>
      </p:sp>
      <p:sp>
        <p:nvSpPr>
          <p:cNvPr id="5" name="labor-unit">
            <a:extLst xmlns:a="http://schemas.openxmlformats.org/drawingml/2006/main">
              <a:ext uri="{FF2B5EF4-FFF2-40B4-BE49-F238E27FC236}">
                <a16:creationId xmlns:a16="http://schemas.microsoft.com/office/drawing/2014/main" id="{C1F81110-580A-4D31-9E97-AD59A7E0E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571750"/>
            <a:ext cx="190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7"/>
                </a:solidFill>
              </a:defRPr>
            </a:pPr>
            <a:r>
              <a:rPr sz="1650" b="1">
                <a:solidFill>
                  <a:srgbClr val="171717"/>
                </a:solidFill>
              </a:rPr>
              <a:t>hours/week</a:t>
            </a:r>
          </a:p>
        </p:txBody>
      </p:sp>
      <p:sp>
        <p:nvSpPr>
          <p:cNvPr id="6" name="labor-copy">
            <a:extLst xmlns:a="http://schemas.openxmlformats.org/drawingml/2006/main">
              <a:ext uri="{FF2B5EF4-FFF2-40B4-BE49-F238E27FC236}">
                <a16:creationId xmlns:a16="http://schemas.microsoft.com/office/drawing/2014/main" id="{92F4C987-461A-437E-9F01-E958D8450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3619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26262"/>
                </a:solidFill>
              </a:defRPr>
            </a:pPr>
            <a:r>
              <a:rPr sz="1350" b="0">
                <a:solidFill>
                  <a:srgbClr val="626262"/>
                </a:solidFill>
              </a:rPr>
              <a:t>Modeled reporting effort addressed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626262"/>
                </a:solidFill>
              </a:defRPr>
            </a:pPr>
            <a:r>
              <a:rPr sz="1350" b="0">
                <a:solidFill>
                  <a:srgbClr val="626262"/>
                </a:solidFill>
              </a:rPr>
              <a:t>≈ $52K annual labor value</a:t>
            </a:r>
          </a:p>
        </p:txBody>
      </p:sp>
      <p:sp>
        <p:nvSpPr>
          <p:cNvPr id="7" name="retrieval-big">
            <a:extLst xmlns:a="http://schemas.openxmlformats.org/drawingml/2006/main">
              <a:ext uri="{FF2B5EF4-FFF2-40B4-BE49-F238E27FC236}">
                <a16:creationId xmlns:a16="http://schemas.microsoft.com/office/drawing/2014/main" id="{DAEBAAD8-002E-4F92-AE17-0C9FB26A8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098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D52B1E"/>
                </a:solidFill>
              </a:defRPr>
            </a:pPr>
            <a:r>
              <a:rPr sz="4950" b="1">
                <a:solidFill>
                  <a:srgbClr val="D52B1E"/>
                </a:solidFill>
              </a:rPr>
              <a:t>≈90%</a:t>
            </a:r>
          </a:p>
        </p:txBody>
      </p:sp>
      <p:sp>
        <p:nvSpPr>
          <p:cNvPr id="8" name="retrieval-copy">
            <a:extLst xmlns:a="http://schemas.openxmlformats.org/drawingml/2006/main">
              <a:ext uri="{FF2B5EF4-FFF2-40B4-BE49-F238E27FC236}">
                <a16:creationId xmlns:a16="http://schemas.microsoft.com/office/drawing/2014/main" id="{3B410233-5062-46ED-A886-70944875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238500"/>
            <a:ext cx="342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26262"/>
                </a:solidFill>
              </a:defRPr>
            </a:pPr>
            <a:r>
              <a:rPr sz="1350" b="0">
                <a:solidFill>
                  <a:srgbClr val="626262"/>
                </a:solidFill>
              </a:rPr>
              <a:t>Estimated retrieval improvement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626262"/>
                </a:solidFill>
              </a:defRPr>
            </a:pPr>
            <a:r>
              <a:rPr sz="1350" b="0">
                <a:solidFill>
                  <a:srgbClr val="626262"/>
                </a:solidFill>
              </a:rPr>
              <a:t>20-30 minutes → 1-2 minutes</a:t>
            </a:r>
          </a:p>
        </p:txBody>
      </p:sp>
      <p:sp>
        <p:nvSpPr>
          <p:cNvPr id="9" name="upper">
            <a:extLst xmlns:a="http://schemas.openxmlformats.org/drawingml/2006/main">
              <a:ext uri="{FF2B5EF4-FFF2-40B4-BE49-F238E27FC236}">
                <a16:creationId xmlns:a16="http://schemas.microsoft.com/office/drawing/2014/main" id="{A6E09BC8-C40C-4F4D-9CF6-14F3D92FE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098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52B1E"/>
                </a:solidFill>
              </a:defRPr>
            </a:pPr>
            <a:r>
              <a:rPr sz="1050" b="1">
                <a:solidFill>
                  <a:srgbClr val="D52B1E"/>
                </a:solidFill>
              </a:rPr>
              <a:t>UPPER-BOUND SCENARIO</a:t>
            </a:r>
          </a:p>
        </p:txBody>
      </p:sp>
      <p:sp>
        <p:nvSpPr>
          <p:cNvPr id="10" name="upper-copy">
            <a:extLst xmlns:a="http://schemas.openxmlformats.org/drawingml/2006/main">
              <a:ext uri="{FF2B5EF4-FFF2-40B4-BE49-F238E27FC236}">
                <a16:creationId xmlns:a16="http://schemas.microsoft.com/office/drawing/2014/main" id="{5C42874A-B76E-46F7-9FB3-F1A6883D9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67000"/>
            <a:ext cx="285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1717"/>
                </a:solidFill>
              </a:defRPr>
            </a:pPr>
            <a:r>
              <a:rPr sz="1875" b="1">
                <a:solidFill>
                  <a:srgbClr val="171717"/>
                </a:solidFill>
              </a:rPr>
              <a:t>227.5K widgets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171717"/>
                </a:solidFill>
              </a:defRPr>
            </a:pPr>
            <a:r>
              <a:rPr sz="1875" b="1">
                <a:solidFill>
                  <a:srgbClr val="171717"/>
                </a:solidFill>
              </a:rPr>
              <a:t>≈ $205K contribution margin</a:t>
            </a:r>
          </a:p>
        </p:txBody>
      </p:sp>
      <p:sp>
        <p:nvSpPr>
          <p:cNvPr id="11" name="qualification">
            <a:extLst xmlns:a="http://schemas.openxmlformats.org/drawingml/2006/main">
              <a:ext uri="{FF2B5EF4-FFF2-40B4-BE49-F238E27FC236}">
                <a16:creationId xmlns:a16="http://schemas.microsoft.com/office/drawing/2014/main" id="{1FEEF611-9ABD-4829-A834-EAEAE710A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102870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BE8E6"/>
          </a:solidFill>
          <a:ln xmlns:a="http://schemas.openxmlformats.org/drawingml/2006/main" w="9525">
            <a:solidFill>
              <a:srgbClr val="D52B1E"/>
            </a:solidFill>
            <a:prstDash val="solid"/>
          </a:ln>
        </p:spPr>
      </p:sp>
      <p:sp>
        <p:nvSpPr>
          <p:cNvPr id="12" name="qualification-copy">
            <a:extLst xmlns:a="http://schemas.openxmlformats.org/drawingml/2006/main">
              <a:ext uri="{FF2B5EF4-FFF2-40B4-BE49-F238E27FC236}">
                <a16:creationId xmlns:a16="http://schemas.microsoft.com/office/drawing/2014/main" id="{D185FCB1-F490-47E6-BA2E-1ABD622F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810125"/>
            <a:ext cx="9791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1717"/>
                </a:solidFill>
              </a:defRPr>
            </a:pPr>
            <a:r>
              <a:rPr sz="1500" b="1">
                <a:solidFill>
                  <a:srgbClr val="171717"/>
                </a:solidFill>
              </a:rPr>
              <a:t>Planning scenarios - not booked savings, realized production, guaranteed margin, or autonomous outcomes.</a:t>
            </a:r>
          </a:p>
        </p:txBody>
      </p:sp>
    </p:spTree>
    <p:extLst>
      <p:ext uri="{BB962C8B-B14F-4D97-AF65-F5344CB8AC3E}">
        <p14:creationId xmlns:p14="http://schemas.microsoft.com/office/powerpoint/2010/main" val="131226460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308127D3-91DD-4DCE-AB8F-49EFAE323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665C"/>
                </a:solidFill>
              </a:defRPr>
            </a:pPr>
            <a:r>
              <a:rPr sz="1050" b="1">
                <a:solidFill>
                  <a:srgbClr val="FF665C"/>
                </a:solidFill>
              </a:rPr>
              <a:t>THE TAKEAWAY</a:t>
            </a:r>
          </a:p>
        </p:txBody>
      </p:sp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2DAC3708-EEEA-4FF7-9312-94FC0675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096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Prepared evidence creates more time for interpretation and action.</a:t>
            </a:r>
          </a:p>
        </p:txBody>
      </p:sp>
      <p:sp>
        <p:nvSpPr>
          <p:cNvPr id="3" name="close-copy">
            <a:extLst xmlns:a="http://schemas.openxmlformats.org/drawingml/2006/main">
              <a:ext uri="{FF2B5EF4-FFF2-40B4-BE49-F238E27FC236}">
                <a16:creationId xmlns:a16="http://schemas.microsoft.com/office/drawing/2014/main" id="{B075202B-D26D-463E-BC65-D0D6C856C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857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C6C6C6"/>
                </a:solidFill>
              </a:defRPr>
            </a:pPr>
            <a:r>
              <a:rPr sz="1875" b="0">
                <a:solidFill>
                  <a:srgbClr val="C6C6C6"/>
                </a:solidFill>
              </a:rPr>
              <a:t>The system makes reporting more consistent and inspectable.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C6C6C6"/>
                </a:solidFill>
              </a:defRPr>
            </a:pPr>
            <a:r>
              <a:rPr sz="1875" b="0">
                <a:solidFill>
                  <a:srgbClr val="C6C6C6"/>
                </a:solidFill>
              </a:rPr>
              <a:t>People remain responsible for operational judgment.</a:t>
            </a:r>
          </a:p>
        </p:txBody>
      </p:sp>
      <p:sp>
        <p:nvSpPr>
          <p:cNvPr id="4" name="red-rule">
            <a:extLst xmlns:a="http://schemas.openxmlformats.org/drawingml/2006/main">
              <a:ext uri="{FF2B5EF4-FFF2-40B4-BE49-F238E27FC236}">
                <a16:creationId xmlns:a16="http://schemas.microsoft.com/office/drawing/2014/main" id="{6898FA00-98D3-4EB5-9D5B-37D069E53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9650"/>
            <a:ext cx="2095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2B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lose">
            <a:extLst xmlns:a="http://schemas.openxmlformats.org/drawingml/2006/main">
              <a:ext uri="{FF2B5EF4-FFF2-40B4-BE49-F238E27FC236}">
                <a16:creationId xmlns:a16="http://schemas.microsoft.com/office/drawing/2014/main" id="{CA5C6183-33D4-4FB0-9E13-300C228D3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933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Inspect the evidence workbook or use the technical reference for implementation depth.</a:t>
            </a:r>
          </a:p>
        </p:txBody>
      </p:sp>
    </p:spTree>
    <p:extLst>
      <p:ext uri="{BB962C8B-B14F-4D97-AF65-F5344CB8AC3E}">
        <p14:creationId xmlns:p14="http://schemas.microsoft.com/office/powerpoint/2010/main" val="16548559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2026-08-25T03:43:31.9130000Z</dcterms:created>
  <dcterms:modified xsi:type="dcterms:W3CDTF">2026-08-25T03:43:31.9130000Z</dcterms:modified>
</coreProperties>
</file>