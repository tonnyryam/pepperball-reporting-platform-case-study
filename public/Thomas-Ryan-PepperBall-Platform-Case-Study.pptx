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6d3285dea1475b" /><Relationship Type="http://schemas.openxmlformats.org/officeDocument/2006/relationships/extended-properties" Target="/docProps/app.xml" Id="R30722f1d8a354e03" /><Relationship Type="http://schemas.openxmlformats.org/officeDocument/2006/relationships/officeDocument" Target="/ppt/presentation.xml" Id="Rd2e0b213c8b244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01c346d7cb4acc"/>
  </p:sldMasterIdLst>
  <p:notesMasterIdLst>
    <p:notesMasterId xmlns:r="http://schemas.openxmlformats.org/officeDocument/2006/relationships" r:id="R9fb2f034ed0c4821"/>
  </p:notesMasterIdLst>
  <p:sldIdLst>
    <p:sldId xmlns:r="http://schemas.openxmlformats.org/officeDocument/2006/relationships" id="256" r:id="R5b3f4387ff9e47ba"/>
    <p:sldId xmlns:r="http://schemas.openxmlformats.org/officeDocument/2006/relationships" id="257" r:id="R8c8028a17ba54f1b"/>
    <p:sldId xmlns:r="http://schemas.openxmlformats.org/officeDocument/2006/relationships" id="258" r:id="Ra6419a8a9e8f42a1"/>
    <p:sldId xmlns:r="http://schemas.openxmlformats.org/officeDocument/2006/relationships" id="259" r:id="Rbc57a05a0a4648a7"/>
    <p:sldId xmlns:r="http://schemas.openxmlformats.org/officeDocument/2006/relationships" id="260" r:id="R8a54f1e7c7834941"/>
    <p:sldId xmlns:r="http://schemas.openxmlformats.org/officeDocument/2006/relationships" id="261" r:id="Rdb84316618a541a0"/>
    <p:sldId xmlns:r="http://schemas.openxmlformats.org/officeDocument/2006/relationships" id="262" r:id="R8d79930cb7d74e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01e6f5198c4bd9" /><Relationship Type="http://schemas.openxmlformats.org/officeDocument/2006/relationships/slideMaster" Target="/ppt/slideMasters/slideMaster1.xml" Id="R3c01c346d7cb4acc" /><Relationship Type="http://schemas.openxmlformats.org/officeDocument/2006/relationships/notesMaster" Target="/ppt/notesMasters/notesMaster1.xml" Id="R9fb2f034ed0c4821" /><Relationship Type="http://schemas.openxmlformats.org/officeDocument/2006/relationships/presProps" Target="/ppt/presProps.xml" Id="Re027937545eb41ef" /><Relationship Type="http://schemas.openxmlformats.org/officeDocument/2006/relationships/tableStyles" Target="/ppt/tableStyles.xml" Id="R989f13cccc08477e" /><Relationship Type="http://schemas.openxmlformats.org/officeDocument/2006/relationships/slide" Target="/ppt/slides/slide1.xml" Id="R5b3f4387ff9e47ba" /><Relationship Type="http://schemas.openxmlformats.org/officeDocument/2006/relationships/slide" Target="/ppt/slides/slide2.xml" Id="R8c8028a17ba54f1b" /><Relationship Type="http://schemas.openxmlformats.org/officeDocument/2006/relationships/slide" Target="/ppt/slides/slide3.xml" Id="Ra6419a8a9e8f42a1" /><Relationship Type="http://schemas.openxmlformats.org/officeDocument/2006/relationships/slide" Target="/ppt/slides/slide4.xml" Id="Rbc57a05a0a4648a7" /><Relationship Type="http://schemas.openxmlformats.org/officeDocument/2006/relationships/slide" Target="/ppt/slides/slide5.xml" Id="R8a54f1e7c7834941" /><Relationship Type="http://schemas.openxmlformats.org/officeDocument/2006/relationships/slide" Target="/ppt/slides/slide6.xml" Id="Rdb84316618a541a0" /><Relationship Type="http://schemas.openxmlformats.org/officeDocument/2006/relationships/slide" Target="/ppt/slides/slide7.xml" Id="R8d79930cb7d74e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d52f5db4c843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88d847489d4667" /><Relationship Type="http://schemas.openxmlformats.org/officeDocument/2006/relationships/notesMaster" Target="/ppt/notesMasters/notesMaster1.xml" Id="R15c172ddabfe46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bf47b25eeb4e26" /><Relationship Type="http://schemas.openxmlformats.org/officeDocument/2006/relationships/notesMaster" Target="/ppt/notesMasters/notesMaster1.xml" Id="Ra70883ed56e44a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b407575df549e9" /><Relationship Type="http://schemas.openxmlformats.org/officeDocument/2006/relationships/notesMaster" Target="/ppt/notesMasters/notesMaster1.xml" Id="R2fdcb295bdde44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690b4a943a84430" /><Relationship Type="http://schemas.openxmlformats.org/officeDocument/2006/relationships/notesMaster" Target="/ppt/notesMasters/notesMaster1.xml" Id="R981083956de84b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d6dc6402604d84" /><Relationship Type="http://schemas.openxmlformats.org/officeDocument/2006/relationships/notesMaster" Target="/ppt/notesMasters/notesMaster1.xml" Id="R18e80a8b7ce34d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0406c42ac644b7" /><Relationship Type="http://schemas.openxmlformats.org/officeDocument/2006/relationships/notesMaster" Target="/ppt/notesMasters/notesMaster1.xml" Id="Rec3641d50e3d4d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abcdd094fb4e55" /><Relationship Type="http://schemas.openxmlformats.org/officeDocument/2006/relationships/notesMaster" Target="/ppt/notesMasters/notesMaster1.xml" Id="Refa8930592c543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impact methodology.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9f82c17b7e47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9321feb35d45c8" /><Relationship Type="http://schemas.openxmlformats.org/officeDocument/2006/relationships/slideLayout" Target="/ppt/slideLayouts/slideLayout1.xml" Id="Re46150db4e7149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6150db4e7149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0246707964e1a" /><Relationship Type="http://schemas.openxmlformats.org/officeDocument/2006/relationships/notesSlide" Target="/ppt/notesSlides/notesSlide1.xml" Id="R777d22db0d7849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28b34c45d4356" /><Relationship Type="http://schemas.openxmlformats.org/officeDocument/2006/relationships/notesSlide" Target="/ppt/notesSlides/notesSlide2.xml" Id="R4f054621e09845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d43662b9e4e79" /><Relationship Type="http://schemas.openxmlformats.org/officeDocument/2006/relationships/notesSlide" Target="/ppt/notesSlides/notesSlide3.xml" Id="Rd36b07b3db854f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cc5dd265994018" /><Relationship Type="http://schemas.openxmlformats.org/officeDocument/2006/relationships/notesSlide" Target="/ppt/notesSlides/notesSlide4.xml" Id="Rd844c698914a42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3876b90b240e6" /><Relationship Type="http://schemas.openxmlformats.org/officeDocument/2006/relationships/notesSlide" Target="/ppt/notesSlides/notesSlide5.xml" Id="R7f0d029e7c8141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23f040c8c4c6b" /><Relationship Type="http://schemas.openxmlformats.org/officeDocument/2006/relationships/notesSlide" Target="/ppt/notesSlides/notesSlide6.xml" Id="R150ce28458174c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04a6d5a304a44" /><Relationship Type="http://schemas.openxmlformats.org/officeDocument/2006/relationships/notesSlide" Target="/ppt/notesSlides/notesSlide7.xml" Id="Rde944ea1d9454a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32E4F2-B427-4062-8A70-E72C9381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PEPPERBALL CASE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1BF61E-7CBD-4C27-851D-64D5A256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Prepared reports. Faster review. Better operational context.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976FC-3273-475E-82E8-9AB21A1A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31DD0D-5A51-4E99-8487-9B24BD95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7524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262"/>
                </a:solidFill>
              </a:defRPr>
            </a:pPr>
            <a:r>
              <a:rPr sz="1800" b="0">
                <a:solidFill>
                  <a:srgbClr val="626262"/>
                </a:solidFill>
              </a:rPr>
              <a:t>A SharePoint-first platform that prepares consistent, source-linked reports for supervisors and managers to review and act 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B160A-959D-497A-8607-9CBF224B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52625"/>
            <a:ext cx="2952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5A1F2-8EB5-42EA-AEB3-5044BDA6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6A60"/>
                </a:solidFill>
              </a:defRPr>
            </a:pPr>
            <a:r>
              <a:rPr sz="1050" b="1">
                <a:solidFill>
                  <a:srgbClr val="FF6A60"/>
                </a:solidFill>
              </a:rPr>
              <a:t>LESS ASSEMBLY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6B7EF-21E1-445A-8CA2-E0C4AF34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57500"/>
            <a:ext cx="228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More interpretation.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Visible exceptions.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Human authority.</a:t>
            </a:r>
          </a:p>
        </p:txBody>
      </p:sp>
    </p:spTree>
    <p:extLst>
      <p:ext uri="{BB962C8B-B14F-4D97-AF65-F5344CB8AC3E}">
        <p14:creationId xmlns:p14="http://schemas.microsoft.com/office/powerpoint/2010/main" val="18604379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498A3E-D796-427D-9467-9CD795BD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HOW IT IS USED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026E8-CAE6-4F11-BA21-A5049BBD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Three reporting products, three distinct jobs.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D599C-656E-4EE1-B30E-73CF77E8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D73F37-63D0-4142-8BF7-F1D1532F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11539-9688-4B8A-9C1F-0CBC6434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Shift 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EC6683-3795-4F3C-9214-AA2E8D50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02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</a:rPr>
              <a:t>Supervisors review exceptions, add context, and finalize.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57D06-625E-44AB-9994-9EE8B71A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81300"/>
            <a:ext cx="104775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CCCC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BD39F-F4FE-44D3-A293-4035D438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75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2BCD2-F736-4108-BE78-6E3170DF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575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Daily Reports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390376-9A54-4824-996D-6BEE183D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575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</a:rPr>
              <a:t>Managers investigate current performance and constraints.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85139-2024-4D1F-A6B7-66D0EF7E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8600"/>
            <a:ext cx="104775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CCCC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E2F707-EB00-420F-A9FC-6F385E76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14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636EE6-A5A4-4D50-8399-216B2ABA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Weekly Reports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D39292-2EC1-4391-A236-360E5A65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148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</a:rPr>
              <a:t>Teams identify trends and plan follow-up.</a:t>
            </a:r>
          </a:p>
        </p:txBody>
      </p:sp>
    </p:spTree>
    <p:extLst>
      <p:ext uri="{BB962C8B-B14F-4D97-AF65-F5344CB8AC3E}">
        <p14:creationId xmlns:p14="http://schemas.microsoft.com/office/powerpoint/2010/main" val="20964459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4B76F9-D2B2-4899-BCEB-75EE890D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6A60"/>
                </a:solidFill>
              </a:defRPr>
            </a:pPr>
            <a:r>
              <a:rPr sz="1050" b="1">
                <a:solidFill>
                  <a:srgbClr val="FF6A60"/>
                </a:solidFill>
              </a:rPr>
              <a:t>OPERATIONAL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2F13C-D732-413E-83D5-B9BB40B7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Automation prepares evidence; people retain decision authority.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A2070-A4D1-44C7-A9BE-9376F70A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AAAAAA"/>
                </a:solidFill>
              </a:defRPr>
            </a:pPr>
            <a:r>
              <a:rPr sz="825" b="1">
                <a:solidFill>
                  <a:srgbClr val="AAAAAA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48628-7674-4EE1-9BF8-DF2D49EA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571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733B1-861F-412C-B9E2-D65C43DD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FE791-68F5-48E2-94A7-0710C3B4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CC8AD-C396-4A1A-BB73-AA460226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2152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BBBBB"/>
                </a:solidFill>
              </a:defRPr>
            </a:pPr>
            <a:r>
              <a:rPr sz="1200" b="0">
                <a:solidFill>
                  <a:srgbClr val="BBBBBB"/>
                </a:solidFill>
              </a:rPr>
              <a:t>Forms · SharePoint · files · machine events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6860A3-19A6-4D88-A52D-27288516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286000"/>
            <a:ext cx="2571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2AF0C-B7A6-428D-A2A5-03470D2D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241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E8E7C-33C1-47CB-92DA-15DF37BA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Prepare + validate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9246FA-1EC1-4792-B75A-3CB4C6DF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43300"/>
            <a:ext cx="2152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BBBBB"/>
                </a:solidFill>
              </a:defRPr>
            </a:pPr>
            <a:r>
              <a:rPr sz="1200" b="0">
                <a:solidFill>
                  <a:srgbClr val="BBBBBB"/>
                </a:solidFill>
              </a:rPr>
              <a:t>Ingest · reconcile · link ·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5FDB35-07EE-466F-B105-A859A08C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86000"/>
            <a:ext cx="2571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9CA16-02C0-438F-883F-CBF5DDEA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241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44D375-0998-4C4F-931C-ABA87343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480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Reports + dashboard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05A698-1ADD-47AE-9534-0B6114C4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43300"/>
            <a:ext cx="2152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BBBBB"/>
                </a:solidFill>
              </a:defRPr>
            </a:pPr>
            <a:r>
              <a:rPr sz="1200" b="0">
                <a:solidFill>
                  <a:srgbClr val="BBBBBB"/>
                </a:solidFill>
              </a:rPr>
              <a:t>Shift · daily · weekly · live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D1D49B-F722-4F02-9564-1C5315BF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86000"/>
            <a:ext cx="2571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17993D-2BE8-4A3A-80F9-21594FF0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241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8DA00-9D9B-4727-99DA-8445358F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480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Review + 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784119-5B34-416D-A8DF-DCBA389F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543300"/>
            <a:ext cx="2152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</a:defRPr>
            </a:pPr>
            <a:r>
              <a:rPr sz="1200" b="0">
                <a:solidFill>
                  <a:srgbClr val="FFFFFF"/>
                </a:solidFill>
              </a:rPr>
              <a:t>Interpret · prioritize · coordinate</a:t>
            </a:r>
          </a:p>
        </p:txBody>
      </p:sp>
    </p:spTree>
    <p:extLst>
      <p:ext uri="{BB962C8B-B14F-4D97-AF65-F5344CB8AC3E}">
        <p14:creationId xmlns:p14="http://schemas.microsoft.com/office/powerpoint/2010/main" val="19067798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D375B6-3B95-44C5-8C83-63403A9C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OPERATIONAL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3E779-99C1-4D2B-9744-2E85980B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More time for interpretation, follow-up, and accountability.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4D815-AA4C-4156-9425-FDB75698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3F2FD-ABA1-4D59-897C-EE4B756D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685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26262"/>
                </a:solidFill>
              </a:defRPr>
            </a:pPr>
            <a:r>
              <a:rPr sz="1875" b="0">
                <a:solidFill>
                  <a:srgbClr val="626262"/>
                </a:solidFill>
              </a:rPr>
              <a:t>Prepared reports reduce repetitive spreadsheet work, make consistent information easier to reach, and keep exceptions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1D1B3-1851-44FB-815E-6FBF35B9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5623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20949-B735-45C7-BFF0-ECDA54C4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MODELED PLANNING OPPORTUNITY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F97D0-0257-4E2E-AC17-3AB03182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194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D52B1E"/>
                </a:solidFill>
              </a:defRPr>
            </a:pPr>
            <a:r>
              <a:rPr sz="3225" b="1">
                <a:solidFill>
                  <a:srgbClr val="D52B1E"/>
                </a:solidFill>
              </a:rPr>
              <a:t>30 hours/week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699CF-08D9-465D-9AF0-6B7E8600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242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6262"/>
                </a:solidFill>
              </a:defRPr>
            </a:pPr>
            <a:r>
              <a:rPr sz="1275" b="0">
                <a:solidFill>
                  <a:srgbClr val="626262"/>
                </a:solidFill>
              </a:rPr>
              <a:t>20 supervisor + 10 manager hours addressed, representing about $52K annual labor value under documented assumptions—not booked savings.</a:t>
            </a:r>
          </a:p>
        </p:txBody>
      </p:sp>
    </p:spTree>
    <p:extLst>
      <p:ext uri="{BB962C8B-B14F-4D97-AF65-F5344CB8AC3E}">
        <p14:creationId xmlns:p14="http://schemas.microsoft.com/office/powerpoint/2010/main" val="3851899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944300-BD8E-46CF-A28F-CB1511E4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6A60"/>
                </a:solidFill>
              </a:defRPr>
            </a:pPr>
            <a:r>
              <a:rPr sz="1050" b="1">
                <a:solidFill>
                  <a:srgbClr val="FF6A60"/>
                </a:solidFill>
              </a:rPr>
              <a:t>TECHNICAL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4220B9-03C8-4AF3-8988-D014908A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Five controls make the outputs trustworthy.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615F46-77FC-4214-9BD4-D59B3A85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AAAAAA"/>
                </a:solidFill>
              </a:defRPr>
            </a:pPr>
            <a:r>
              <a:rPr sz="825" b="1">
                <a:solidFill>
                  <a:srgbClr val="AAAAAA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1650AC-DF40-477E-93FB-CE62026E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E79486-B6B4-4634-B132-3D2DCF52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5E6217-0FBF-4159-A746-52198921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Automated ingestion + reconciliation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767E6-4B1E-4342-9656-A6C61E18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955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761B38-6E72-495A-AC8B-6F3041F0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86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A89F3-830F-4911-95F4-20EFB449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860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Source-linked lineage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BBD5F-CF47-48B1-A499-9EF159D9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955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3CD71-4C87-4C78-B9CF-F8466F90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86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6AB42-7465-4FFF-B3D2-2D182CC8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860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Missing remains distinct from 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3489E-5BF6-43CF-ABD5-211B7082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8100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8A874-AF48-4814-B54F-6086788F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000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09BD8-F281-4888-8C98-9D37969F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00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Fail-closed validation + publishing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1CC4D2-E834-4419-8374-F1316DE8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38100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1EFD50-2AE7-4D86-AA70-B2E75603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00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409AE-DBB0-4C79-84FC-050FD078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00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One-writer delivery + exact rollback</a:t>
            </a:r>
          </a:p>
        </p:txBody>
      </p:sp>
    </p:spTree>
    <p:extLst>
      <p:ext uri="{BB962C8B-B14F-4D97-AF65-F5344CB8AC3E}">
        <p14:creationId xmlns:p14="http://schemas.microsoft.com/office/powerpoint/2010/main" val="12088594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9A23D1-3D15-4229-BFC9-C4C6EDF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8797F-5C27-4B92-9131-E1FAF39C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Each artifact adds a different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8306F-DEDF-49BB-B29F-ECB42435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2C40BE-F979-4759-A986-D8D46B69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5048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4C09C-A538-4380-9AEB-BD23A7D0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ONE-PAGE PDF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65C29-C318-4DD2-858B-9EAC2DB7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6222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Executive scan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DA5040-3DFC-4A4D-9FAC-B9D22521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52625"/>
            <a:ext cx="5048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B7C08-EF9D-4AB6-8707-15C46734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62175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THIS DECK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0F730-BE90-42B9-AF1E-FA0517CF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6222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Short presentation narrative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63E43-450C-436D-BDE8-14A38FB7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71875"/>
            <a:ext cx="5048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50A6A-C112-4C5D-93AD-6C5E3DC2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81425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TECHNICAL PDF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67282-C184-4C90-B413-E6EEBAB0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8147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Architecture and reliability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040BD-0B3D-40D2-972B-210DBBD2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71875"/>
            <a:ext cx="5048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2FB6B-DB91-4ED9-9D1C-5C053362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81425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SYNTHETIC WORKBOOK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641EE-7D73-46DE-ACC4-AA8CC83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8147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Inspectable operational and recovery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C7A1FE-0F2D-40C1-8929-25591200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816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Public assets are sanitized. Exact dependencies and operating procedures remain in the private successor handoff.</a:t>
            </a:r>
          </a:p>
        </p:txBody>
      </p:sp>
    </p:spTree>
    <p:extLst>
      <p:ext uri="{BB962C8B-B14F-4D97-AF65-F5344CB8AC3E}">
        <p14:creationId xmlns:p14="http://schemas.microsoft.com/office/powerpoint/2010/main" val="6208304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9B9903-2204-4827-8771-B5414D82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TECHNICAL APPENDIX · OPERATIONAL INTELLIGENCE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59429-2B01-4D8E-82DE-D8C59909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Retrieve, diagnose, and validate governed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0F432-7DEE-464E-9F1B-1DAB2D09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47875"/>
            <a:ext cx="3333750" cy="2524125"/>
          </a:xfrm>
          <a:prstGeom xmlns:a="http://schemas.openxmlformats.org/drawingml/2006/main" prst="roundRect">
            <a:avLst>
              <a:gd name="adj" fmla="val 30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9EF2EE-846F-4857-9A90-92C8C483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40540-ECD3-48FB-B6BC-60725E26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Source-grounded retrieval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33E077-85A7-40D4-AA1B-A1E17CE7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6262"/>
                </a:solidFill>
              </a:defRPr>
            </a:pPr>
            <a:r>
              <a:rPr sz="1275" b="0">
                <a:solidFill>
                  <a:srgbClr val="626262"/>
                </a:solidFill>
              </a:rPr>
              <a:t>Validated citations · deterministic fallback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E4699-C315-4D6A-AC28-B0B495A7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Estimated ~90% faster retrieval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99280-9FBB-4CBB-A5C4-1345F1DD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47875"/>
            <a:ext cx="3333750" cy="2524125"/>
          </a:xfrm>
          <a:prstGeom xmlns:a="http://schemas.openxmlformats.org/drawingml/2006/main" prst="roundRect">
            <a:avLst>
              <a:gd name="adj" fmla="val 30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40B19C-A0D5-4CC8-8B1B-8B2F4CE5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86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REPORT DOCTOR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EC4FE9-FDAD-4A2A-B34E-0A6C97BB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813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Read-only diagnostics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B41CCB-6F87-4425-89D6-85FA7EBC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337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6262"/>
                </a:solidFill>
              </a:defRPr>
            </a:pPr>
            <a:r>
              <a:rPr sz="1275" b="0">
                <a:solidFill>
                  <a:srgbClr val="626262"/>
                </a:solidFill>
              </a:rPr>
              <a:t>Expected outputs · exceptions · settlement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0EF068-2F7A-450F-9E90-F977C039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9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Observe without mutation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F75272-4184-4EE4-B4C2-DC94FCB7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47875"/>
            <a:ext cx="3333750" cy="2524125"/>
          </a:xfrm>
          <a:prstGeom xmlns:a="http://schemas.openxmlformats.org/drawingml/2006/main" prst="roundRect">
            <a:avLst>
              <a:gd name="adj" fmla="val 3019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A4D18-D0E5-47BD-BB20-6EB6A02A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86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GOVERNED ORACLE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B89A5D-FE68-4F4F-A3E7-B1C496CC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813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Contract-bound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86F00-DA2A-4F13-BA4C-26D4DFAA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337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BBBBB"/>
                </a:solidFill>
              </a:defRPr>
            </a:pPr>
            <a:r>
              <a:rPr sz="1275" b="0">
                <a:solidFill>
                  <a:srgbClr val="BBBBBB"/>
                </a:solidFill>
              </a:rPr>
              <a:t>Identity · lineage · state · semantics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FA5E0F-2EE5-4B24-875D-99A4E036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9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Missing evidence fails closed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0FACF8-546B-4E32-9BA0-D60A3C88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10744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91B383-A9FF-4758-BB57-EE1FD552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81600"/>
            <a:ext cx="1032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1717"/>
                </a:solidFill>
              </a:defRPr>
            </a:pPr>
            <a:r>
              <a:rPr sz="1275" b="1">
                <a:solidFill>
                  <a:srgbClr val="171717"/>
                </a:solidFill>
              </a:rPr>
              <a:t>Secondary model: up to 227.5K widgets / approximately $205K contribution-margin opportunity under documented assumptions.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20E1FC-673C-4982-8F6B-064F5081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</p:spTree>
    <p:extLst>
      <p:ext uri="{BB962C8B-B14F-4D97-AF65-F5344CB8AC3E}">
        <p14:creationId xmlns:p14="http://schemas.microsoft.com/office/powerpoint/2010/main" val="7553762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2026-08-25T01:49:13.5770000Z</dcterms:created>
  <dcterms:modified xsi:type="dcterms:W3CDTF">2026-08-25T01:49:13.5770000Z</dcterms:modified>
</coreProperties>
</file>