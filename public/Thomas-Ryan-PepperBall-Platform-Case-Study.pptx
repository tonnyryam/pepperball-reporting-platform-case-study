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73478b8ad440e8" /><Relationship Type="http://schemas.openxmlformats.org/officeDocument/2006/relationships/extended-properties" Target="/docProps/app.xml" Id="R503a28ba83b64ad0" /><Relationship Type="http://schemas.openxmlformats.org/officeDocument/2006/relationships/officeDocument" Target="/ppt/presentation.xml" Id="Rf42857baf143461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be71c510564cf7"/>
  </p:sldMasterIdLst>
  <p:notesMasterIdLst>
    <p:notesMasterId xmlns:r="http://schemas.openxmlformats.org/officeDocument/2006/relationships" r:id="R28479908b9954e53"/>
  </p:notesMasterIdLst>
  <p:sldIdLst>
    <p:sldId xmlns:r="http://schemas.openxmlformats.org/officeDocument/2006/relationships" id="256" r:id="Rc284425b91c6460a"/>
    <p:sldId xmlns:r="http://schemas.openxmlformats.org/officeDocument/2006/relationships" id="257" r:id="R3fd7139484ab4f60"/>
    <p:sldId xmlns:r="http://schemas.openxmlformats.org/officeDocument/2006/relationships" id="258" r:id="R0e17ee1301ef4c47"/>
    <p:sldId xmlns:r="http://schemas.openxmlformats.org/officeDocument/2006/relationships" id="259" r:id="R765e16e5f3864bcd"/>
    <p:sldId xmlns:r="http://schemas.openxmlformats.org/officeDocument/2006/relationships" id="260" r:id="R51fa092a455740f8"/>
    <p:sldId xmlns:r="http://schemas.openxmlformats.org/officeDocument/2006/relationships" id="261" r:id="R5584c65fa88742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a9505d11f5451e" /><Relationship Type="http://schemas.openxmlformats.org/officeDocument/2006/relationships/slideMaster" Target="/ppt/slideMasters/slideMaster1.xml" Id="R6bbe71c510564cf7" /><Relationship Type="http://schemas.openxmlformats.org/officeDocument/2006/relationships/notesMaster" Target="/ppt/notesMasters/notesMaster1.xml" Id="R28479908b9954e53" /><Relationship Type="http://schemas.openxmlformats.org/officeDocument/2006/relationships/presProps" Target="/ppt/presProps.xml" Id="R518194c97d1c4b73" /><Relationship Type="http://schemas.openxmlformats.org/officeDocument/2006/relationships/tableStyles" Target="/ppt/tableStyles.xml" Id="R357cf3f2e43e4df2" /><Relationship Type="http://schemas.openxmlformats.org/officeDocument/2006/relationships/slide" Target="/ppt/slides/slide1.xml" Id="Rc284425b91c6460a" /><Relationship Type="http://schemas.openxmlformats.org/officeDocument/2006/relationships/slide" Target="/ppt/slides/slide2.xml" Id="R3fd7139484ab4f60" /><Relationship Type="http://schemas.openxmlformats.org/officeDocument/2006/relationships/slide" Target="/ppt/slides/slide3.xml" Id="R0e17ee1301ef4c47" /><Relationship Type="http://schemas.openxmlformats.org/officeDocument/2006/relationships/slide" Target="/ppt/slides/slide4.xml" Id="R765e16e5f3864bcd" /><Relationship Type="http://schemas.openxmlformats.org/officeDocument/2006/relationships/slide" Target="/ppt/slides/slide5.xml" Id="R51fa092a455740f8" /><Relationship Type="http://schemas.openxmlformats.org/officeDocument/2006/relationships/slide" Target="/ppt/slides/slide6.xml" Id="R5584c65fa88742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84c928f2df44d7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bf7cdb90ec4194" /><Relationship Type="http://schemas.openxmlformats.org/officeDocument/2006/relationships/notesMaster" Target="/ppt/notesMasters/notesMaster1.xml" Id="Rd98773cd7f5544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448abb32244a0f" /><Relationship Type="http://schemas.openxmlformats.org/officeDocument/2006/relationships/notesMaster" Target="/ppt/notesMasters/notesMaster1.xml" Id="Rfcffb0685c6b46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da853957784394" /><Relationship Type="http://schemas.openxmlformats.org/officeDocument/2006/relationships/notesMaster" Target="/ppt/notesMasters/notesMaster1.xml" Id="R770178db96424a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034f100b974723" /><Relationship Type="http://schemas.openxmlformats.org/officeDocument/2006/relationships/notesMaster" Target="/ppt/notesMasters/notesMaster1.xml" Id="Rf71dc584dc3d4ac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3aa1df053241fe" /><Relationship Type="http://schemas.openxmlformats.org/officeDocument/2006/relationships/notesMaster" Target="/ppt/notesMasters/notesMaster1.xml" Id="R7b7b41fa44d147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66d6939fc7c40f8" /><Relationship Type="http://schemas.openxmlformats.org/officeDocument/2006/relationships/notesMaster" Target="/ppt/notesMasters/notesMaster1.xml" Id="R43f581f7814e47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project evidence and retained PepperBall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4e1cb7617b43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febeb48de64802" /><Relationship Type="http://schemas.openxmlformats.org/officeDocument/2006/relationships/slideLayout" Target="/ppt/slideLayouts/slideLayout1.xml" Id="R4c876d980ad6438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876d980ad6438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52338a02a4404f" /><Relationship Type="http://schemas.openxmlformats.org/officeDocument/2006/relationships/notesSlide" Target="/ppt/notesSlides/notesSlide1.xml" Id="R3aa1239cda4343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ef64d566e9461b" /><Relationship Type="http://schemas.openxmlformats.org/officeDocument/2006/relationships/notesSlide" Target="/ppt/notesSlides/notesSlide2.xml" Id="Rf88f1101a42d45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abf78232ab4921" /><Relationship Type="http://schemas.openxmlformats.org/officeDocument/2006/relationships/notesSlide" Target="/ppt/notesSlides/notesSlide3.xml" Id="R674bf50f3ed341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787406ebfa4d47" /><Relationship Type="http://schemas.openxmlformats.org/officeDocument/2006/relationships/notesSlide" Target="/ppt/notesSlides/notesSlide4.xml" Id="R22d9cb9a95c747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6669e9a85c41a0" /><Relationship Type="http://schemas.openxmlformats.org/officeDocument/2006/relationships/notesSlide" Target="/ppt/notesSlides/notesSlide5.xml" Id="Rff27a5cdaf8245c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3eb6c72af34aba" /><Relationship Type="http://schemas.openxmlformats.org/officeDocument/2006/relationships/notesSlide" Target="/ppt/notesSlides/notesSlide6.xml" Id="Re58ca104cded499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32E4F2-B427-4062-8A70-E72C9381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PEPPERBALL CASE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1BF61E-7CBD-4C27-851D-64D5A256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Prepared reports. Faster review. Better operational context.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976FC-3273-475E-82E8-9AB21A1AF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31DD0D-5A51-4E99-8487-9B24BD95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7524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26262"/>
                </a:solidFill>
              </a:defRPr>
            </a:pPr>
            <a:r>
              <a:rPr sz="1800" b="0">
                <a:solidFill>
                  <a:srgbClr val="626262"/>
                </a:solidFill>
              </a:rPr>
              <a:t>A SharePoint-first platform that prepares consistent, source-linked reports for supervisors and managers to review and act 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3B160A-959D-497A-8607-9CBF224B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52625"/>
            <a:ext cx="2952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71717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65A1F2-8EB5-42EA-AEB3-5044BDA6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860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6A60"/>
                </a:solidFill>
              </a:defRPr>
            </a:pPr>
            <a:r>
              <a:rPr sz="1050" b="1">
                <a:solidFill>
                  <a:srgbClr val="FF6A60"/>
                </a:solidFill>
              </a:rPr>
              <a:t>LESS ASSEMBLY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B6B7EF-21E1-445A-8CA2-E0C4AF346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857500"/>
            <a:ext cx="2286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More interpretation.</a:t>
            </a:r>
          </a:p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Visible exceptions.</a:t>
            </a:r>
          </a:p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Human authority.</a:t>
            </a:r>
          </a:p>
        </p:txBody>
      </p:sp>
    </p:spTree>
    <p:extLst>
      <p:ext uri="{BB962C8B-B14F-4D97-AF65-F5344CB8AC3E}">
        <p14:creationId xmlns:p14="http://schemas.microsoft.com/office/powerpoint/2010/main" val="18604379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498A3E-D796-427D-9467-9CD795BD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HOW IT IS USED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1026E8-CAE6-4F11-BA21-A5049BBD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Three reporting products, three distinct jobs.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D599C-656E-4EE1-B30E-73CF77E8F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D73F37-63D0-4142-8BF7-F1D1532F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11539-9688-4B8A-9C1F-0CBC64346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002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717"/>
                </a:solidFill>
              </a:defRPr>
            </a:pPr>
            <a:r>
              <a:rPr sz="1875" b="1">
                <a:solidFill>
                  <a:srgbClr val="171717"/>
                </a:solidFill>
              </a:rPr>
              <a:t>Shift Drafts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EC6683-3795-4F3C-9214-AA2E8D50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00250"/>
            <a:ext cx="666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26262"/>
                </a:solidFill>
              </a:defRPr>
            </a:pPr>
            <a:r>
              <a:rPr sz="1650" b="0">
                <a:solidFill>
                  <a:srgbClr val="626262"/>
                </a:solidFill>
              </a:rPr>
              <a:t>Supervisors review exceptions, add context, and finalize.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057D06-625E-44AB-9994-9EE8B71A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81300"/>
            <a:ext cx="104775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CCCC"/>
          </a:solidFill>
          <a:ln xmlns:a="http://schemas.openxmlformats.org/drawingml/2006/main" w="9525">
            <a:solidFill>
              <a:srgbClr val="CCCC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BD39F-F4FE-44D3-A293-4035D438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575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32BCD2-F736-4108-BE78-6E3170DF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575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717"/>
                </a:solidFill>
              </a:defRPr>
            </a:pPr>
            <a:r>
              <a:rPr sz="1875" b="1">
                <a:solidFill>
                  <a:srgbClr val="171717"/>
                </a:solidFill>
              </a:rPr>
              <a:t>Daily Reports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390376-9A54-4824-996D-6BEE183D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57550"/>
            <a:ext cx="666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26262"/>
                </a:solidFill>
              </a:defRPr>
            </a:pPr>
            <a:r>
              <a:rPr sz="1650" b="0">
                <a:solidFill>
                  <a:srgbClr val="626262"/>
                </a:solidFill>
              </a:rPr>
              <a:t>Managers investigate current performance and constraints.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E85139-2024-4D1F-A6B7-66D0EF7E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38600"/>
            <a:ext cx="10477500" cy="9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CCCC"/>
          </a:solidFill>
          <a:ln xmlns:a="http://schemas.openxmlformats.org/drawingml/2006/main" w="9525">
            <a:solidFill>
              <a:srgbClr val="CCCCC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E2F707-EB00-420F-A9FC-6F385E76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14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636EE6-A5A4-4D50-8399-216B2ABA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148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717"/>
                </a:solidFill>
              </a:defRPr>
            </a:pPr>
            <a:r>
              <a:rPr sz="1875" b="1">
                <a:solidFill>
                  <a:srgbClr val="171717"/>
                </a:solidFill>
              </a:rPr>
              <a:t>Weekly Reports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D39292-2EC1-4391-A236-360E5A65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514850"/>
            <a:ext cx="666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26262"/>
                </a:solidFill>
              </a:defRPr>
            </a:pPr>
            <a:r>
              <a:rPr sz="1650" b="0">
                <a:solidFill>
                  <a:srgbClr val="626262"/>
                </a:solidFill>
              </a:rPr>
              <a:t>Teams identify trends and plan follow-up.</a:t>
            </a:r>
          </a:p>
        </p:txBody>
      </p:sp>
    </p:spTree>
    <p:extLst>
      <p:ext uri="{BB962C8B-B14F-4D97-AF65-F5344CB8AC3E}">
        <p14:creationId xmlns:p14="http://schemas.microsoft.com/office/powerpoint/2010/main" val="20964459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4B76F9-D2B2-4899-BCEB-75EE890D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6A60"/>
                </a:solidFill>
              </a:defRPr>
            </a:pPr>
            <a:r>
              <a:rPr sz="1050" b="1">
                <a:solidFill>
                  <a:srgbClr val="FF6A60"/>
                </a:solidFill>
              </a:rPr>
              <a:t>OPERATIONAL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2F13C-D732-413E-83D5-B9BB40B7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Automation prepares evidence; people retain decision authority.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0A2070-A4D1-44C7-A9BE-9376F70A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AAAAA"/>
                </a:solidFill>
              </a:defRPr>
            </a:pPr>
            <a:r>
              <a:rPr sz="825" b="1">
                <a:solidFill>
                  <a:srgbClr val="AAAAAA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C48628-7674-4EE1-9BF8-DF2D49EA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2571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B733B1-861F-412C-B9E2-D65C43DDB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6A60"/>
                </a:solidFill>
              </a:defRPr>
            </a:pPr>
            <a:r>
              <a:rPr sz="975" b="1">
                <a:solidFill>
                  <a:srgbClr val="FF6A60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2FE791-68F5-48E2-94A7-0710C3B4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Inputs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CC8AD-C396-4A1A-BB73-AA460226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2152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BBBBB"/>
                </a:solidFill>
              </a:defRPr>
            </a:pPr>
            <a:r>
              <a:rPr sz="1200" b="0">
                <a:solidFill>
                  <a:srgbClr val="BBBBBB"/>
                </a:solidFill>
              </a:rPr>
              <a:t>Forms · SharePoint · files · machine events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6860A3-19A6-4D88-A52D-27288516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286000"/>
            <a:ext cx="2571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F2AF0C-B7A6-428D-A2A5-03470D2D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2412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6A60"/>
                </a:solidFill>
              </a:defRPr>
            </a:pPr>
            <a:r>
              <a:rPr sz="975" b="1">
                <a:solidFill>
                  <a:srgbClr val="FF6A60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7E8E7C-33C1-47CB-92DA-15DF37BA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480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Prepare + validate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9246FA-1EC1-4792-B75A-3CB4C6DF9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543300"/>
            <a:ext cx="2152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BBBBB"/>
                </a:solidFill>
              </a:defRPr>
            </a:pPr>
            <a:r>
              <a:rPr sz="1200" b="0">
                <a:solidFill>
                  <a:srgbClr val="BBBBBB"/>
                </a:solidFill>
              </a:rPr>
              <a:t>Ingest · reconcile · link · 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5FDB35-07EE-466F-B105-A859A08C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86000"/>
            <a:ext cx="2571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E9CA16-02C0-438F-883F-CBF5DDEA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2412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6A60"/>
                </a:solidFill>
              </a:defRPr>
            </a:pPr>
            <a:r>
              <a:rPr sz="975" b="1">
                <a:solidFill>
                  <a:srgbClr val="FF6A60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44D375-0998-4C4F-931C-ABA87343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480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Reports + dashboard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05A698-1ADD-47AE-9534-0B6114C4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43300"/>
            <a:ext cx="2152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BBBBB"/>
                </a:solidFill>
              </a:defRPr>
            </a:pPr>
            <a:r>
              <a:rPr sz="1200" b="0">
                <a:solidFill>
                  <a:srgbClr val="BBBBBB"/>
                </a:solidFill>
              </a:rPr>
              <a:t>Shift · daily · weekly · live status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D1D49B-F722-4F02-9564-1C5315BFC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286000"/>
            <a:ext cx="2571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D52B1E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17993D-2BE8-4A3A-80F9-21594FF0F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52412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B8DA00-9D9B-4727-99DA-8445358F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480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Review + 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784119-5B34-416D-A8DF-DCBA389F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543300"/>
            <a:ext cx="2152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</a:defRPr>
            </a:pPr>
            <a:r>
              <a:rPr sz="1200" b="0">
                <a:solidFill>
                  <a:srgbClr val="FFFFFF"/>
                </a:solidFill>
              </a:rPr>
              <a:t>Interpret · prioritize · coordinate</a:t>
            </a:r>
          </a:p>
        </p:txBody>
      </p:sp>
    </p:spTree>
    <p:extLst>
      <p:ext uri="{BB962C8B-B14F-4D97-AF65-F5344CB8AC3E}">
        <p14:creationId xmlns:p14="http://schemas.microsoft.com/office/powerpoint/2010/main" val="19067798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D375B6-3B95-44C5-8C83-63403A9C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OPERATIONAL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3E779-99C1-4D2B-9744-2E85980B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More time for interpretation, follow-up, and accountability.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44D815-AA4C-4156-9425-FDB75698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23F2FD-ABA1-4D59-897C-EE4B756D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685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26262"/>
                </a:solidFill>
              </a:defRPr>
            </a:pPr>
            <a:r>
              <a:rPr sz="1875" b="0">
                <a:solidFill>
                  <a:srgbClr val="626262"/>
                </a:solidFill>
              </a:rPr>
              <a:t>Prepared reports reduce repetitive spreadsheet work, make consistent information easier to reach, and keep exceptions visible.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51D1B3-1851-44FB-815E-6FBF35B9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35623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E20949-B735-45C7-BFF0-ECDA54C4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4790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MODELED PLANNING OPPORTUNITY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0F97D0-0257-4E2E-AC17-3AB03182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194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D52B1E"/>
                </a:solidFill>
              </a:defRPr>
            </a:pPr>
            <a:r>
              <a:rPr sz="3225" b="1">
                <a:solidFill>
                  <a:srgbClr val="D52B1E"/>
                </a:solidFill>
              </a:rPr>
              <a:t>30 hours/week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3699CF-08D9-465D-9AF0-6B7E8600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242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262"/>
                </a:solidFill>
              </a:defRPr>
            </a:pPr>
            <a:r>
              <a:rPr sz="1275" b="0">
                <a:solidFill>
                  <a:srgbClr val="626262"/>
                </a:solidFill>
              </a:rPr>
              <a:t>20 supervisor + 10 manager hours addressed, representing about $52K annual labor value under documented assumptions—not booked savings.</a:t>
            </a:r>
          </a:p>
        </p:txBody>
      </p:sp>
    </p:spTree>
    <p:extLst>
      <p:ext uri="{BB962C8B-B14F-4D97-AF65-F5344CB8AC3E}">
        <p14:creationId xmlns:p14="http://schemas.microsoft.com/office/powerpoint/2010/main" val="3851899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944300-BD8E-46CF-A28F-CB1511E4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6A60"/>
                </a:solidFill>
              </a:defRPr>
            </a:pPr>
            <a:r>
              <a:rPr sz="1050" b="1">
                <a:solidFill>
                  <a:srgbClr val="FF6A60"/>
                </a:solidFill>
              </a:rPr>
              <a:t>TECHNICAL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4220B9-03C8-4AF3-8988-D014908A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Five controls make the outputs trustworthy.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615F46-77FC-4214-9BD4-D59B3A85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AAAAA"/>
                </a:solidFill>
              </a:defRPr>
            </a:pPr>
            <a:r>
              <a:rPr sz="825" b="1">
                <a:solidFill>
                  <a:srgbClr val="AAAAAA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1650AC-DF40-477E-93FB-CE62026E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333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E79486-B6B4-4634-B132-3D2DCF52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6A60"/>
                </a:solidFill>
              </a:defRPr>
            </a:pPr>
            <a:r>
              <a:rPr sz="900" b="1">
                <a:solidFill>
                  <a:srgbClr val="FF6A60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5E6217-0FBF-4159-A746-521989217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Automated ingestion + reconciliation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B767E6-4B1E-4342-9656-A6C61E18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95500"/>
            <a:ext cx="3333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761B38-6E72-495A-AC8B-6F3041F0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860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6A60"/>
                </a:solidFill>
              </a:defRPr>
            </a:pPr>
            <a:r>
              <a:rPr sz="900" b="1">
                <a:solidFill>
                  <a:srgbClr val="FF6A60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A89F3-830F-4911-95F4-20EFB449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860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Source-linked lineage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5BBD5F-CF47-48B1-A499-9EF159D9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95500"/>
            <a:ext cx="3333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73CD71-4C87-4C78-B9CF-F8466F90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860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6A60"/>
                </a:solidFill>
              </a:defRPr>
            </a:pPr>
            <a:r>
              <a:rPr sz="900" b="1">
                <a:solidFill>
                  <a:srgbClr val="FF6A60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06AB42-7465-4FFF-B3D2-2D182CC8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860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Missing remains distinct from zero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53489E-5BF6-43CF-ABD5-211B7082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3810000"/>
            <a:ext cx="3333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292929"/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18A874-AF48-4814-B54F-6086788F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0005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6A60"/>
                </a:solidFill>
              </a:defRPr>
            </a:pPr>
            <a:r>
              <a:rPr sz="900" b="1">
                <a:solidFill>
                  <a:srgbClr val="FF6A60"/>
                </a:solidFill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709BD8-F281-4888-8C98-9D37969F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400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Fail-closed validation + publishing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1CC4D2-E834-4419-8374-F1316DE8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3810000"/>
            <a:ext cx="3333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52B1E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1EFD50-2AE7-4D86-AA70-B2E756033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0005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B409AE-DBB0-4C79-84FC-050FD078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400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One-writer delivery + exact rollback</a:t>
            </a:r>
          </a:p>
        </p:txBody>
      </p:sp>
    </p:spTree>
    <p:extLst>
      <p:ext uri="{BB962C8B-B14F-4D97-AF65-F5344CB8AC3E}">
        <p14:creationId xmlns:p14="http://schemas.microsoft.com/office/powerpoint/2010/main" val="12088594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9A23D1-3D15-4229-BFC9-C4C6EDFC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</a:defRPr>
            </a:pPr>
            <a:r>
              <a:rPr sz="1050" b="1">
                <a:solidFill>
                  <a:srgbClr val="D52B1E"/>
                </a:solidFill>
              </a:rPr>
              <a:t>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58797F-5C27-4B92-9131-E1FAF39C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717"/>
                </a:solidFill>
              </a:defRPr>
            </a:pPr>
            <a:r>
              <a:rPr sz="3150" b="1">
                <a:solidFill>
                  <a:srgbClr val="171717"/>
                </a:solidFill>
              </a:rPr>
              <a:t>Each artifact adds a different layer.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58306F-DEDF-49BB-B29F-ECB42435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6262"/>
                </a:solidFill>
              </a:defRPr>
            </a:pPr>
            <a:r>
              <a:rPr sz="825" b="1">
                <a:solidFill>
                  <a:srgbClr val="626262"/>
                </a:solidFill>
              </a:rPr>
              <a:t>THOMAS RYAN  |  MANUFACTURING REPORTING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2C40BE-F979-4759-A986-D8D46B698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504825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CC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A4C09C-A538-4380-9AEB-BD23A7D06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ONE-PAGE PDF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A65C29-C318-4DD2-858B-9EAC2DB7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62225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Executive scan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DA5040-3DFC-4A4D-9FAC-B9D22521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952625"/>
            <a:ext cx="504825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CC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DB7C08-EF9D-4AB6-8707-15C46734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62175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THIS DECK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70F730-BE90-42B9-AF1E-FA0517CF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62225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Short presentation narrative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063E43-450C-436D-BDE8-14A38FB76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71875"/>
            <a:ext cx="504825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CCC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950A6A-C112-4C5D-93AD-6C5E3DC2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81425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TECHNICAL PDF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967282-C184-4C90-B413-E6EEBAB04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81475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Architecture and reliability 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4040BD-0B3D-40D2-972B-210DBBD2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571875"/>
            <a:ext cx="504825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B2FB6B-DB91-4ED9-9D1C-5C053362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81425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</a:defRPr>
            </a:pPr>
            <a:r>
              <a:rPr sz="975" b="1">
                <a:solidFill>
                  <a:srgbClr val="D52B1E"/>
                </a:solidFill>
              </a:rPr>
              <a:t>SYNTHETIC WORKBOOK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5641EE-7D73-46DE-ACC4-AA8CC83D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181475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Inspectable operational and recovery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C7A1FE-0F2D-40C1-8929-25591200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8162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262"/>
                </a:solidFill>
              </a:defRPr>
            </a:pPr>
            <a:r>
              <a:rPr sz="1350" b="0">
                <a:solidFill>
                  <a:srgbClr val="626262"/>
                </a:solidFill>
              </a:rPr>
              <a:t>Public assets are sanitized. Exact dependencies and operating procedures remain in the private successor handoff.</a:t>
            </a:r>
          </a:p>
        </p:txBody>
      </p:sp>
    </p:spTree>
    <p:extLst>
      <p:ext uri="{BB962C8B-B14F-4D97-AF65-F5344CB8AC3E}">
        <p14:creationId xmlns:p14="http://schemas.microsoft.com/office/powerpoint/2010/main" val="6208304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2026-08-25T01:18:26.9880000Z</dcterms:created>
  <dcterms:modified xsi:type="dcterms:W3CDTF">2026-08-25T01:18:26.9880000Z</dcterms:modified>
</coreProperties>
</file>