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2fd5ebbe9848c4" /><Relationship Type="http://schemas.openxmlformats.org/officeDocument/2006/relationships/extended-properties" Target="/docProps/app.xml" Id="R0576226faf45413b" /><Relationship Type="http://schemas.openxmlformats.org/officeDocument/2006/relationships/officeDocument" Target="/ppt/presentation.xml" Id="Ra3949420a58a40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ee0ba163e94b1a"/>
  </p:sldMasterIdLst>
  <p:notesMasterIdLst>
    <p:notesMasterId xmlns:r="http://schemas.openxmlformats.org/officeDocument/2006/relationships" r:id="R4f7d4f0524fc4551"/>
  </p:notesMasterIdLst>
  <p:sldIdLst>
    <p:sldId xmlns:r="http://schemas.openxmlformats.org/officeDocument/2006/relationships" id="256" r:id="R4287e505978248f0"/>
    <p:sldId xmlns:r="http://schemas.openxmlformats.org/officeDocument/2006/relationships" id="257" r:id="R0e744912555a4bb8"/>
    <p:sldId xmlns:r="http://schemas.openxmlformats.org/officeDocument/2006/relationships" id="258" r:id="Raf89a3ad80a5405d"/>
    <p:sldId xmlns:r="http://schemas.openxmlformats.org/officeDocument/2006/relationships" id="259" r:id="Re01aec2e2f3a4f9e"/>
    <p:sldId xmlns:r="http://schemas.openxmlformats.org/officeDocument/2006/relationships" id="260" r:id="R0adbf6341a1a44ed"/>
    <p:sldId xmlns:r="http://schemas.openxmlformats.org/officeDocument/2006/relationships" id="261" r:id="R7154a2ed36dd483e"/>
    <p:sldId xmlns:r="http://schemas.openxmlformats.org/officeDocument/2006/relationships" id="262" r:id="R2ad91493f69e4afc"/>
    <p:sldId xmlns:r="http://schemas.openxmlformats.org/officeDocument/2006/relationships" id="263" r:id="R436dfdbcac5b49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1bdeae9ac74f30" /><Relationship Type="http://schemas.openxmlformats.org/officeDocument/2006/relationships/slideMaster" Target="/ppt/slideMasters/slideMaster1.xml" Id="Rdaee0ba163e94b1a" /><Relationship Type="http://schemas.openxmlformats.org/officeDocument/2006/relationships/notesMaster" Target="/ppt/notesMasters/notesMaster1.xml" Id="R4f7d4f0524fc4551" /><Relationship Type="http://schemas.openxmlformats.org/officeDocument/2006/relationships/presProps" Target="/ppt/presProps.xml" Id="R52d5977f309447ab" /><Relationship Type="http://schemas.openxmlformats.org/officeDocument/2006/relationships/tableStyles" Target="/ppt/tableStyles.xml" Id="R458aff65217b448e" /><Relationship Type="http://schemas.openxmlformats.org/officeDocument/2006/relationships/slide" Target="/ppt/slides/slide1.xml" Id="R4287e505978248f0" /><Relationship Type="http://schemas.openxmlformats.org/officeDocument/2006/relationships/slide" Target="/ppt/slides/slide2.xml" Id="R0e744912555a4bb8" /><Relationship Type="http://schemas.openxmlformats.org/officeDocument/2006/relationships/slide" Target="/ppt/slides/slide3.xml" Id="Raf89a3ad80a5405d" /><Relationship Type="http://schemas.openxmlformats.org/officeDocument/2006/relationships/slide" Target="/ppt/slides/slide4.xml" Id="Re01aec2e2f3a4f9e" /><Relationship Type="http://schemas.openxmlformats.org/officeDocument/2006/relationships/slide" Target="/ppt/slides/slide5.xml" Id="R0adbf6341a1a44ed" /><Relationship Type="http://schemas.openxmlformats.org/officeDocument/2006/relationships/slide" Target="/ppt/slides/slide6.xml" Id="R7154a2ed36dd483e" /><Relationship Type="http://schemas.openxmlformats.org/officeDocument/2006/relationships/slide" Target="/ppt/slides/slide7.xml" Id="R2ad91493f69e4afc" /><Relationship Type="http://schemas.openxmlformats.org/officeDocument/2006/relationships/slide" Target="/ppt/slides/slide8.xml" Id="R436dfdbcac5b49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aef09842ec46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bb321c498e74a36" /><Relationship Type="http://schemas.openxmlformats.org/officeDocument/2006/relationships/notesMaster" Target="/ppt/notesMasters/notesMaster1.xml" Id="R3c98a89586364ba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80739251fc41bb" /><Relationship Type="http://schemas.openxmlformats.org/officeDocument/2006/relationships/notesMaster" Target="/ppt/notesMasters/notesMaster1.xml" Id="R1882dcbb0fda4f6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35ead48d3b48bd" /><Relationship Type="http://schemas.openxmlformats.org/officeDocument/2006/relationships/notesMaster" Target="/ppt/notesMasters/notesMaster1.xml" Id="R86f4f9f49bd943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b668a852824a84" /><Relationship Type="http://schemas.openxmlformats.org/officeDocument/2006/relationships/notesMaster" Target="/ppt/notesMasters/notesMaster1.xml" Id="R827f7834c4424a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e123b021d24b62" /><Relationship Type="http://schemas.openxmlformats.org/officeDocument/2006/relationships/notesMaster" Target="/ppt/notesMasters/notesMaster1.xml" Id="R68ef3c104ab347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818acd86ee4491" /><Relationship Type="http://schemas.openxmlformats.org/officeDocument/2006/relationships/notesMaster" Target="/ppt/notesMasters/notesMaster1.xml" Id="Rba9ca7a6cf4e45f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81bfe0306240b8" /><Relationship Type="http://schemas.openxmlformats.org/officeDocument/2006/relationships/notesMaster" Target="/ppt/notesMasters/notesMaster1.xml" Id="Rfbbff65223254e7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4cd69ee9e444c1" /><Relationship Type="http://schemas.openxmlformats.org/officeDocument/2006/relationships/notesMaster" Target="/ppt/notesMasters/notesMaster1.xml" Id="R5015dce986ac44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82c317971948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ea3f3d55ac4e1f" /><Relationship Type="http://schemas.openxmlformats.org/officeDocument/2006/relationships/slideLayout" Target="/ppt/slideLayouts/slideLayout1.xml" Id="R0cfeb29dd1d641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feb29dd1d641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faaaaaa4a74116" /><Relationship Type="http://schemas.openxmlformats.org/officeDocument/2006/relationships/notesSlide" Target="/ppt/notesSlides/notesSlide1.xml" Id="R0e5769adb2164e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8ea5dfc9364854" /><Relationship Type="http://schemas.openxmlformats.org/officeDocument/2006/relationships/notesSlide" Target="/ppt/notesSlides/notesSlide2.xml" Id="R603c57c5463642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1bd0983974472d" /><Relationship Type="http://schemas.openxmlformats.org/officeDocument/2006/relationships/notesSlide" Target="/ppt/notesSlides/notesSlide3.xml" Id="Rdda63052c57d4f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9b310594ab416b" /><Relationship Type="http://schemas.openxmlformats.org/officeDocument/2006/relationships/notesSlide" Target="/ppt/notesSlides/notesSlide4.xml" Id="R15fd89e6243043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2f625c363a4d60" /><Relationship Type="http://schemas.openxmlformats.org/officeDocument/2006/relationships/notesSlide" Target="/ppt/notesSlides/notesSlide5.xml" Id="R135f68e213bb48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55bde37f1e4c9c" /><Relationship Type="http://schemas.openxmlformats.org/officeDocument/2006/relationships/notesSlide" Target="/ppt/notesSlides/notesSlide6.xml" Id="Rf33965eeff2c4b0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421573f8074c08" /><Relationship Type="http://schemas.openxmlformats.org/officeDocument/2006/relationships/notesSlide" Target="/ppt/notesSlides/notesSlide7.xml" Id="R2da98c9ff52c42f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6b2156e2f4125" /><Relationship Type="http://schemas.openxmlformats.org/officeDocument/2006/relationships/notesSlide" Target="/ppt/notesSlides/notesSlide8.xml" Id="R63b695e380414a8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F6ED48-E4A4-4F5F-B45D-177691C2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PEPPERBALL CASE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410EAF-9686-492D-B1B6-3DFC888B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Prepared reports. Faster review. Better operational context.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3C0DDC-E1BD-4683-B76F-78D5E92B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E7321-7E46-4BAC-9654-ECEF6FEA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781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26262"/>
                </a:solidFill>
              </a:defRPr>
            </a:pPr>
            <a:r>
              <a:rPr sz="1800" b="0">
                <a:solidFill>
                  <a:srgbClr val="626262"/>
                </a:solidFill>
              </a:rPr>
              <a:t>A SharePoint-first platform that prepares shift, daily, and weekly decision-support outputs for supervisors and managers.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EEFD24-8536-45A0-815B-2494CF54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62150"/>
            <a:ext cx="28003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88EBDD-5C13-4E1E-B369-9A913A71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2860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A60"/>
                </a:solidFill>
              </a:defRPr>
            </a:pPr>
            <a:r>
              <a:rPr sz="1125" b="1">
                <a:solidFill>
                  <a:srgbClr val="FF6A60"/>
                </a:solidFill>
              </a:rPr>
              <a:t>LESS PREPARATION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E48DA2-F987-46F0-B164-6D5D8F4A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62250"/>
            <a:ext cx="22669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Consistent information</a:t>
            </a:r>
          </a:p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Visible exceptions</a:t>
            </a:r>
          </a:p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Human review</a:t>
            </a:r>
          </a:p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Operational action</a:t>
            </a:r>
          </a:p>
        </p:txBody>
      </p:sp>
    </p:spTree>
    <p:extLst>
      <p:ext uri="{BB962C8B-B14F-4D97-AF65-F5344CB8AC3E}">
        <p14:creationId xmlns:p14="http://schemas.microsoft.com/office/powerpoint/2010/main" val="8793665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3E4AAE-AAF7-47BF-BF7C-208078E1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HOW THE PLATFORM IS USED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9FFF72-1E3D-481C-A303-A93771665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Supervisors begin with a prepared Shift Draft.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51AA84-8A3A-429A-8228-CF7C2D19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49FED4-AB88-4CB7-A5AD-A8A2DD7F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26262"/>
                </a:solidFill>
              </a:defRPr>
            </a:pPr>
            <a:r>
              <a:rPr sz="1800" b="0">
                <a:solidFill>
                  <a:srgbClr val="626262"/>
                </a:solidFill>
              </a:rPr>
              <a:t>Automation handles much of the collection, reconciliation, organization, and spreadsheet preparation.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2C58DD-7189-49AB-B483-85326976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23812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7DC403-A5EE-4F29-BD28-21F8CAF9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48000"/>
            <a:ext cx="23812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488608-203C-459F-AE37-C69C39DD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48000"/>
            <a:ext cx="23812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0C4C7C-F133-474D-ACAF-05DD36DF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048000"/>
            <a:ext cx="23812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4FE01-FC7A-4C6B-AB06-E2FD443C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8612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26DF54-C3C1-4B89-9AF7-1EA4EB13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90950"/>
            <a:ext cx="190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Prepared draft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2E5751-DEDA-41F9-B18D-B7F66727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8612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ED4602-C5D2-4C34-95E7-0510705E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790950"/>
            <a:ext cx="190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Review exceptions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21645-A572-4702-8883-759CDE13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8612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B62E13-C5ED-49FC-B780-6ED6555B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90950"/>
            <a:ext cx="190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Add context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560F43-7298-4D73-BC71-4BB195C5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8612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9F8D4B-4ADF-4FCB-9954-49949CCED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90950"/>
            <a:ext cx="190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Finalize faster</a:t>
            </a:r>
          </a:p>
        </p:txBody>
      </p:sp>
    </p:spTree>
    <p:extLst>
      <p:ext uri="{BB962C8B-B14F-4D97-AF65-F5344CB8AC3E}">
        <p14:creationId xmlns:p14="http://schemas.microsoft.com/office/powerpoint/2010/main" val="3346982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83BD81-2BEA-4C43-A8CF-66398294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DAILY MANAGEMENT 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3C33CD-208A-4DF2-B17F-2EB8A922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One report concentrates the questions managers need to pursue.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C5ED0-D1B4-450F-8A97-C90DC596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4347EE-D7D7-4007-A76F-7E5A321A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2495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ED18B-A763-4192-B9B9-F6D49B07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207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</a:defRPr>
            </a:pPr>
            <a:r>
              <a:rPr sz="1575" b="1">
                <a:solidFill>
                  <a:srgbClr val="171717"/>
                </a:solidFill>
              </a:rPr>
              <a:t>Production + molding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3A32E-7B72-43E1-BB63-68AB71BD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190750"/>
            <a:ext cx="2495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0B0326-F51F-474E-ABFA-BF29CFF9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207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</a:defRPr>
            </a:pPr>
            <a:r>
              <a:rPr sz="1575" b="1">
                <a:solidFill>
                  <a:srgbClr val="171717"/>
                </a:solidFill>
              </a:rPr>
              <a:t>Labor + quality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A7AFFC-1C79-4151-8923-B0F2B605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90750"/>
            <a:ext cx="2495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479145-B606-4B83-8BEE-166460BE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71750"/>
            <a:ext cx="207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</a:defRPr>
            </a:pPr>
            <a:r>
              <a:rPr sz="1575" b="1">
                <a:solidFill>
                  <a:srgbClr val="171717"/>
                </a:solidFill>
              </a:rPr>
              <a:t>Plan attainment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E60888-09BD-4400-8837-DA6F14F9C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2495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89E2FA-22B8-446C-A92A-2FFACB2E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71750"/>
            <a:ext cx="207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</a:defRPr>
            </a:pPr>
            <a:r>
              <a:rPr sz="1575" b="1">
                <a:solidFill>
                  <a:srgbClr val="171717"/>
                </a:solidFill>
              </a:rPr>
              <a:t>Downtime + constraints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0DAA14-E67F-4820-B9B1-25DB342D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26262"/>
                </a:solidFill>
              </a:defRPr>
            </a:pPr>
            <a:r>
              <a:rPr sz="1875" b="0">
                <a:solidFill>
                  <a:srgbClr val="626262"/>
                </a:solidFill>
              </a:rPr>
              <a:t>Managers investigate underperformance, prioritize follow-up, and inform staffing, production-plan, maintenance, or cross-department coordination changes.</a:t>
            </a:r>
          </a:p>
        </p:txBody>
      </p:sp>
    </p:spTree>
    <p:extLst>
      <p:ext uri="{BB962C8B-B14F-4D97-AF65-F5344CB8AC3E}">
        <p14:creationId xmlns:p14="http://schemas.microsoft.com/office/powerpoint/2010/main" val="8726633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56F2F0-DF83-4074-BFE2-D2175B7A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WEEKLY OPERATING 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0C0B4F-AB67-4193-B67C-F057C683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Trends separate recurring problems from isolated incidents.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CEB398-8BC4-47F8-A6CC-DC963B7F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028CA8-1A2B-4FA8-8393-69F9097F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52B1E"/>
                </a:solidFill>
              </a:defRPr>
            </a:pPr>
            <a:r>
              <a:rPr sz="1875" b="1">
                <a:solidFill>
                  <a:srgbClr val="D52B1E"/>
                </a:solidFill>
              </a:rPr>
              <a:t>Weekly Production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4E2035-C084-45A7-8C65-BF60F337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33650"/>
            <a:ext cx="4095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1717"/>
                </a:solidFill>
              </a:defRPr>
            </a:pPr>
            <a:r>
              <a:rPr sz="1650" b="0">
                <a:solidFill>
                  <a:srgbClr val="171717"/>
                </a:solidFill>
              </a:rPr>
              <a:t>Compare performance over time</a:t>
            </a:r>
          </a:p>
          <a:p xmlns:a="http://schemas.openxmlformats.org/drawingml/2006/main">
            <a:pPr algn="l">
              <a:defRPr sz="1650" b="0">
                <a:solidFill>
                  <a:srgbClr val="171717"/>
                </a:solidFill>
              </a:defRPr>
            </a:pPr>
            <a:r>
              <a:rPr sz="1650" b="0">
                <a:solidFill>
                  <a:srgbClr val="171717"/>
                </a:solidFill>
              </a:rPr>
              <a:t>Support capacity and labor planning</a:t>
            </a:r>
          </a:p>
          <a:p xmlns:a="http://schemas.openxmlformats.org/drawingml/2006/main">
            <a:pPr algn="l">
              <a:defRPr sz="1650" b="0">
                <a:solidFill>
                  <a:srgbClr val="171717"/>
                </a:solidFill>
              </a:defRPr>
            </a:pPr>
            <a:r>
              <a:rPr sz="1650" b="0">
                <a:solidFill>
                  <a:srgbClr val="171717"/>
                </a:solidFill>
              </a:rPr>
              <a:t>Prioritize process improvement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66D3C4-0087-4853-8BFF-D03246EB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383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52B1E"/>
                </a:solidFill>
              </a:defRPr>
            </a:pPr>
            <a:r>
              <a:rPr sz="1875" b="1">
                <a:solidFill>
                  <a:srgbClr val="D52B1E"/>
                </a:solidFill>
              </a:rPr>
              <a:t>Weekly Downtime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19FD51-6B88-4588-B37C-AD1A9CA61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33650"/>
            <a:ext cx="4762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1717"/>
                </a:solidFill>
              </a:defRPr>
            </a:pPr>
            <a:r>
              <a:rPr sz="1650" b="0">
                <a:solidFill>
                  <a:srgbClr val="171717"/>
                </a:solidFill>
              </a:rPr>
              <a:t>Identify recurring constraints</a:t>
            </a:r>
          </a:p>
          <a:p xmlns:a="http://schemas.openxmlformats.org/drawingml/2006/main">
            <a:pPr algn="l">
              <a:defRPr sz="1650" b="0">
                <a:solidFill>
                  <a:srgbClr val="171717"/>
                </a:solidFill>
              </a:defRPr>
            </a:pPr>
            <a:r>
              <a:rPr sz="1650" b="0">
                <a:solidFill>
                  <a:srgbClr val="171717"/>
                </a:solidFill>
              </a:rPr>
              <a:t>Prioritize maintenance</a:t>
            </a:r>
          </a:p>
          <a:p xmlns:a="http://schemas.openxmlformats.org/drawingml/2006/main">
            <a:pPr algn="l">
              <a:defRPr sz="1650" b="0">
                <a:solidFill>
                  <a:srgbClr val="171717"/>
                </a:solidFill>
              </a:defRPr>
            </a:pPr>
            <a:r>
              <a:rPr sz="1650" b="0">
                <a:solidFill>
                  <a:srgbClr val="171717"/>
                </a:solidFill>
              </a:rPr>
              <a:t>Create consistent meeting and handoff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B32225-4835-4631-9253-E9ADEFAA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04584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40910-C4B6-4A73-8D60-948C06FC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76775"/>
            <a:ext cx="996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Daily meetings  →  weekly reviews  →  shift handoffs</a:t>
            </a:r>
          </a:p>
        </p:txBody>
      </p:sp>
    </p:spTree>
    <p:extLst>
      <p:ext uri="{BB962C8B-B14F-4D97-AF65-F5344CB8AC3E}">
        <p14:creationId xmlns:p14="http://schemas.microsoft.com/office/powerpoint/2010/main" val="17191763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0584DD-D63A-48B1-87E1-0AD3768A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6A60"/>
                </a:solidFill>
              </a:defRPr>
            </a:pPr>
            <a:r>
              <a:rPr sz="1050" b="1">
                <a:solidFill>
                  <a:srgbClr val="FF6A60"/>
                </a:solidFill>
              </a:rPr>
              <a:t>END-TO-END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31F31C-54E5-4D73-ABC4-1E3B572C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Automation prepares evidence; people retain decision authority.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D80CC2-1770-43CE-95A2-4DF1A43B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AFAF"/>
                </a:solidFill>
              </a:defRPr>
            </a:pPr>
            <a:r>
              <a:rPr sz="825" b="1">
                <a:solidFill>
                  <a:srgbClr val="AFAFAF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776A6B-73E7-46B8-95DE-3B79C6AC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16573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68ECB3-ADFD-484A-8E46-FF2755E7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6A60"/>
                </a:solidFill>
              </a:defRPr>
            </a:pPr>
            <a:r>
              <a:rPr sz="900" b="1">
                <a:solidFill>
                  <a:srgbClr val="FF6A60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B3BC63-4E55-4DAC-84D8-AA1FAAE4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6100"/>
            <a:ext cx="1314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Operational inputs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3568B4-F9FF-4605-9DB8-E24FA3BA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81250"/>
            <a:ext cx="16573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DEDDCF-9DF3-47AE-B83A-2941641F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7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6A60"/>
                </a:solidFill>
              </a:defRPr>
            </a:pPr>
            <a:r>
              <a:rPr sz="900" b="1">
                <a:solidFill>
                  <a:srgbClr val="FF6A60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6888D2-E22A-4684-A88C-A43A0070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086100"/>
            <a:ext cx="1314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Ingest + normalize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8139CD-8D70-45B4-85AC-8F3E98B8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81250"/>
            <a:ext cx="16573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5D806C-5922-438D-8171-63F1505E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57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6A60"/>
                </a:solidFill>
              </a:defRPr>
            </a:pPr>
            <a:r>
              <a:rPr sz="900" b="1">
                <a:solidFill>
                  <a:srgbClr val="FF6A60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82308C-8AA2-4711-B4CD-B7BAA393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86100"/>
            <a:ext cx="1314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Reconcile + link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A19923-AF0C-450E-A7D9-DF68331C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81250"/>
            <a:ext cx="16573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107ABC-E81B-4E9E-B53C-69D9F746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7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6A60"/>
                </a:solidFill>
              </a:defRPr>
            </a:pPr>
            <a:r>
              <a:rPr sz="900" b="1">
                <a:solidFill>
                  <a:srgbClr val="FF6A60"/>
                </a:solidFill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9F5FD0-8043-4B3B-BF91-E77F2470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86100"/>
            <a:ext cx="1314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Validate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628EEA-88B2-4636-8C8C-9B52BC3B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81250"/>
            <a:ext cx="16573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6B3671-006F-4EF1-99A7-0D8C1445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57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6A60"/>
                </a:solidFill>
              </a:defRPr>
            </a:pPr>
            <a:r>
              <a:rPr sz="900" b="1">
                <a:solidFill>
                  <a:srgbClr val="FF6A60"/>
                </a:solidFill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0C1E8D-6834-4AE1-9F2C-C24A42A1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86100"/>
            <a:ext cx="1314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Prepared outputs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366302-C1E9-4D30-9614-EE7252E0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381250"/>
            <a:ext cx="16573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8445DE-B4A3-4043-AFDB-053B4A3F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7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48EF67-009B-4208-AAA4-52AD5E256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86100"/>
            <a:ext cx="1314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Human review + action</a:t>
            </a:r>
          </a:p>
        </p:txBody>
      </p:sp>
    </p:spTree>
    <p:extLst>
      <p:ext uri="{BB962C8B-B14F-4D97-AF65-F5344CB8AC3E}">
        <p14:creationId xmlns:p14="http://schemas.microsoft.com/office/powerpoint/2010/main" val="10480109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62263D-996F-419A-8879-76A8CB1A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IMPACT WITH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AA01FF-B538-46E1-806B-D473B700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Measured engineering gains are distinct from planning models.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AF3B4C-7A3F-49C7-A7C4-581625A5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E78F6-12F4-46A4-BC9F-E62C305F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81200"/>
            <a:ext cx="4953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DA2704-FF53-4548-A55E-515A9EF2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MEASURED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2EF0D-CDB9-455A-96FC-D82B2368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D52B1E"/>
                </a:solidFill>
              </a:defRPr>
            </a:pPr>
            <a:r>
              <a:rPr sz="3900" b="1">
                <a:solidFill>
                  <a:srgbClr val="D52B1E"/>
                </a:solidFill>
              </a:rPr>
              <a:t>94.6%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999276-A41C-4C54-B569-0CD9E727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</a:defRPr>
            </a:pPr>
            <a:r>
              <a:rPr sz="1500" b="1">
                <a:solidFill>
                  <a:srgbClr val="171717"/>
                </a:solidFill>
              </a:rPr>
              <a:t>lower replay-processing 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CC957D-9B56-4B7A-8CFF-D1210485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481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D52B1E"/>
                </a:solidFill>
              </a:defRPr>
            </a:pPr>
            <a:r>
              <a:rPr sz="3300" b="1">
                <a:solidFill>
                  <a:srgbClr val="D52B1E"/>
                </a:solidFill>
              </a:rPr>
              <a:t>86.6%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D2A7D6-B129-4328-BC7A-992C9874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smaller local PostgreSQL fixture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27BD2D-7EE6-4196-9771-003D6CDA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981200"/>
            <a:ext cx="57912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D1D381-CEFA-4364-BD44-007E85E5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47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6A60"/>
                </a:solidFill>
              </a:defRPr>
            </a:pPr>
            <a:r>
              <a:rPr sz="1050" b="1">
                <a:solidFill>
                  <a:srgbClr val="FF6A60"/>
                </a:solidFill>
              </a:rPr>
              <a:t>ESTIMATED / MODELED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FA81CE-4BD5-44EC-AE97-937FC13C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2415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~90% retrieval time  •  ~87% storage cost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C213CB-5CC0-49E5-85F5-7177273F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33750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30 hours/week  •  ~$52K annual labor value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D314C5-E242-42B9-ADB6-C1A8754E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9433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Up to 227.5K widgets  •  ~$205K margin opportunity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9EB800-A7A1-4E5C-8E4C-2195B7CD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95800"/>
            <a:ext cx="504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BBBBB"/>
                </a:solidFill>
              </a:defRPr>
            </a:pPr>
            <a:r>
              <a:rPr sz="1050" b="0">
                <a:solidFill>
                  <a:srgbClr val="BBBBBB"/>
                </a:solidFill>
              </a:rPr>
              <a:t>Opportunities—not booked savings, realized margin, or guaranteed outcomes.</a:t>
            </a:r>
          </a:p>
        </p:txBody>
      </p:sp>
    </p:spTree>
    <p:extLst>
      <p:ext uri="{BB962C8B-B14F-4D97-AF65-F5344CB8AC3E}">
        <p14:creationId xmlns:p14="http://schemas.microsoft.com/office/powerpoint/2010/main" val="1310202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E604F5-B0D0-4EDB-AA89-FEFF92CD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6A60"/>
                </a:solidFill>
              </a:defRPr>
            </a:pPr>
            <a:r>
              <a:rPr sz="1050" b="1">
                <a:solidFill>
                  <a:srgbClr val="FF6A60"/>
                </a:solidFill>
              </a:rPr>
              <a:t>ARCHITECTURE + RELIABILITY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E38465-A2B7-4B25-A8AB-88654A9D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Operational simplicity rests on explicit technical controls.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0547E6-0AFB-4D40-8B09-BDD5134A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AFAF"/>
                </a:solidFill>
              </a:defRPr>
            </a:pPr>
            <a:r>
              <a:rPr sz="825" b="1">
                <a:solidFill>
                  <a:srgbClr val="AFAFAF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2548B8-14B0-47E9-A771-4B4FA1F2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52197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262626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BC303D-4867-496C-A321-6A9DB0E6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717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6A60"/>
                </a:solidFill>
              </a:defRPr>
            </a:pPr>
            <a:r>
              <a:rPr sz="975" b="1">
                <a:solidFill>
                  <a:srgbClr val="FF6A60"/>
                </a:solidFill>
              </a:rPr>
              <a:t>INTAKE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11FB26-27F1-43C1-9B54-1D2E7E228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SharePoint + Forms</a:t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5 Power Automate flows</a:t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Machine events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945302-85FC-4255-A97C-3830DEC97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962150"/>
            <a:ext cx="52197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262626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9EF35A-0B44-4AE7-A6DB-DA2E3AAA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717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6A60"/>
                </a:solidFill>
              </a:defRPr>
            </a:pPr>
            <a:r>
              <a:rPr sz="975" b="1">
                <a:solidFill>
                  <a:srgbClr val="FF6A60"/>
                </a:solidFill>
              </a:rPr>
              <a:t>REPORTING 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B5547A-206C-43F8-9857-866207C0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52700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Python ingestion</a:t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8 source-linked tables</a:t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Workbooks + API/SPFx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70843F-ACF2-4D0F-98B9-AB5509FE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62400"/>
            <a:ext cx="52197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262626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23C5E2-BE31-4CCE-B36A-17D875C7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719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6A60"/>
                </a:solidFill>
              </a:defRPr>
            </a:pPr>
            <a:r>
              <a:rPr sz="975" b="1">
                <a:solidFill>
                  <a:srgbClr val="FF6A60"/>
                </a:solidFill>
              </a:rPr>
              <a:t>DELIVERY CONTROLS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0CEA65-6B05-4335-991A-D9CDD0EB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52950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Lineage + validation</a:t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Missing ≠ zero</a:t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Fail closed + readback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E94265-A8EC-48B5-9B48-590C61E2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62400"/>
            <a:ext cx="52197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FD8C2D-6DE7-4076-84DA-31070713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719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RECOVERY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61D716-E32B-47D7-98E5-9E83B182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52950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Bounded repair</a:t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One writer</a:t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Exact rollback</a:t>
            </a:r>
          </a:p>
        </p:txBody>
      </p:sp>
    </p:spTree>
    <p:extLst>
      <p:ext uri="{BB962C8B-B14F-4D97-AF65-F5344CB8AC3E}">
        <p14:creationId xmlns:p14="http://schemas.microsoft.com/office/powerpoint/2010/main" val="7515484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F5BDA0-96F2-4738-8B56-70650E4B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WHAT THE WORK DEMONSTRATES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D4EAB-D281-4581-98AD-68743C90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A usable operational product with evidence deep enough for successors.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7299A0-A346-4DEF-8310-AC7C5393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921781-AF5C-4DB9-AC43-875EBE75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52B1E"/>
                </a:solidFill>
              </a:defRPr>
            </a:pPr>
            <a:r>
              <a:rPr sz="1725" b="1">
                <a:solidFill>
                  <a:srgbClr val="D52B1E"/>
                </a:solidFill>
              </a:rPr>
              <a:t>Average viewers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20DD1-DB01-4D69-9B3D-68BC4BED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336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1717"/>
                </a:solidFill>
              </a:defRPr>
            </a:pPr>
            <a:r>
              <a:rPr sz="1650" b="0">
                <a:solidFill>
                  <a:srgbClr val="171717"/>
                </a:solidFill>
              </a:rPr>
              <a:t>Understand who uses each output and why it matters in 1–2 minutes.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3354F5-3E46-4681-B26B-0DEB2002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955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52B1E"/>
                </a:solidFill>
              </a:defRPr>
            </a:pPr>
            <a:r>
              <a:rPr sz="1725" b="1">
                <a:solidFill>
                  <a:srgbClr val="D52B1E"/>
                </a:solidFill>
              </a:rPr>
              <a:t>Decision-makers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E8989-20C6-41E7-8ECD-F03290F6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5336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1717"/>
                </a:solidFill>
              </a:defRPr>
            </a:pPr>
            <a:r>
              <a:rPr sz="1650" b="0">
                <a:solidFill>
                  <a:srgbClr val="171717"/>
                </a:solidFill>
              </a:rPr>
              <a:t>See measurable engineering gains and clearly qualified planning opportunities.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EB235D-7FC3-4190-8A20-6C31DF10E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955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52B1E"/>
                </a:solidFill>
              </a:defRPr>
            </a:pPr>
            <a:r>
              <a:rPr sz="1725" b="1">
                <a:solidFill>
                  <a:srgbClr val="D52B1E"/>
                </a:solidFill>
              </a:rPr>
              <a:t>Engineers + successors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45C1A7-8289-4B1E-9B64-3F3A2390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336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1717"/>
                </a:solidFill>
              </a:defRPr>
            </a:pPr>
            <a:r>
              <a:rPr sz="1650" b="0">
                <a:solidFill>
                  <a:srgbClr val="171717"/>
                </a:solidFill>
              </a:rPr>
              <a:t>Follow architecture, lineage, validation, recovery, dependencies, and acceptance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9B7391-7811-4699-9729-B74AC5243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00550"/>
            <a:ext cx="109918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0E3FF0-BE9F-48DB-B773-E90675E8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48200"/>
            <a:ext cx="10458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Decision support—not autonomous decisions or guaranteed business outcomes.</a:t>
            </a:r>
          </a:p>
        </p:txBody>
      </p:sp>
    </p:spTree>
    <p:extLst>
      <p:ext uri="{BB962C8B-B14F-4D97-AF65-F5344CB8AC3E}">
        <p14:creationId xmlns:p14="http://schemas.microsoft.com/office/powerpoint/2010/main" val="4459920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2026-08-24T21:27:38.4400000Z</dcterms:created>
  <dcterms:modified xsi:type="dcterms:W3CDTF">2026-08-24T21:27:38.4400000Z</dcterms:modified>
</coreProperties>
</file>