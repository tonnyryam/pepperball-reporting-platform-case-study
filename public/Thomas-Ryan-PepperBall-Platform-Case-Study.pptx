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e3008b53764dbc" /><Relationship Type="http://schemas.openxmlformats.org/officeDocument/2006/relationships/extended-properties" Target="/docProps/app.xml" Id="Rfd9d9c0602264623" /><Relationship Type="http://schemas.openxmlformats.org/officeDocument/2006/relationships/officeDocument" Target="/ppt/presentation.xml" Id="Rb5eb09b80bab4a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af0170ae124600"/>
  </p:sldMasterIdLst>
  <p:notesMasterIdLst>
    <p:notesMasterId xmlns:r="http://schemas.openxmlformats.org/officeDocument/2006/relationships" r:id="R178e92778c2d48ea"/>
  </p:notesMasterIdLst>
  <p:sldIdLst>
    <p:sldId xmlns:r="http://schemas.openxmlformats.org/officeDocument/2006/relationships" id="256" r:id="Ra6941c86f7b14a81"/>
    <p:sldId xmlns:r="http://schemas.openxmlformats.org/officeDocument/2006/relationships" id="257" r:id="R90a0d324902f4c78"/>
    <p:sldId xmlns:r="http://schemas.openxmlformats.org/officeDocument/2006/relationships" id="258" r:id="Rdbf8bead0ff44896"/>
    <p:sldId xmlns:r="http://schemas.openxmlformats.org/officeDocument/2006/relationships" id="259" r:id="R2c38a20d18ba44db"/>
    <p:sldId xmlns:r="http://schemas.openxmlformats.org/officeDocument/2006/relationships" id="260" r:id="Rdbb9dd8f516442d9"/>
    <p:sldId xmlns:r="http://schemas.openxmlformats.org/officeDocument/2006/relationships" id="261" r:id="Rc24422b527b54988"/>
    <p:sldId xmlns:r="http://schemas.openxmlformats.org/officeDocument/2006/relationships" id="262" r:id="R86d8cd3ec7064d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218695e40045ac" /><Relationship Type="http://schemas.openxmlformats.org/officeDocument/2006/relationships/slideMaster" Target="/ppt/slideMasters/slideMaster1.xml" Id="R21af0170ae124600" /><Relationship Type="http://schemas.openxmlformats.org/officeDocument/2006/relationships/notesMaster" Target="/ppt/notesMasters/notesMaster1.xml" Id="R178e92778c2d48ea" /><Relationship Type="http://schemas.openxmlformats.org/officeDocument/2006/relationships/presProps" Target="/ppt/presProps.xml" Id="Rb3343cf27f274c13" /><Relationship Type="http://schemas.openxmlformats.org/officeDocument/2006/relationships/tableStyles" Target="/ppt/tableStyles.xml" Id="Rad14b4052f424db9" /><Relationship Type="http://schemas.openxmlformats.org/officeDocument/2006/relationships/slide" Target="/ppt/slides/slide1.xml" Id="Ra6941c86f7b14a81" /><Relationship Type="http://schemas.openxmlformats.org/officeDocument/2006/relationships/slide" Target="/ppt/slides/slide2.xml" Id="R90a0d324902f4c78" /><Relationship Type="http://schemas.openxmlformats.org/officeDocument/2006/relationships/slide" Target="/ppt/slides/slide3.xml" Id="Rdbf8bead0ff44896" /><Relationship Type="http://schemas.openxmlformats.org/officeDocument/2006/relationships/slide" Target="/ppt/slides/slide4.xml" Id="R2c38a20d18ba44db" /><Relationship Type="http://schemas.openxmlformats.org/officeDocument/2006/relationships/slide" Target="/ppt/slides/slide5.xml" Id="Rdbb9dd8f516442d9" /><Relationship Type="http://schemas.openxmlformats.org/officeDocument/2006/relationships/slide" Target="/ppt/slides/slide6.xml" Id="Rc24422b527b54988" /><Relationship Type="http://schemas.openxmlformats.org/officeDocument/2006/relationships/slide" Target="/ppt/slides/slide7.xml" Id="R86d8cd3ec7064d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2a417b6cb442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4a96d3249f4ba2" /><Relationship Type="http://schemas.openxmlformats.org/officeDocument/2006/relationships/notesMaster" Target="/ppt/notesMasters/notesMaster1.xml" Id="Rcf16ce23b34641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034045f836445b" /><Relationship Type="http://schemas.openxmlformats.org/officeDocument/2006/relationships/notesMaster" Target="/ppt/notesMasters/notesMaster1.xml" Id="R28fc6f4a1c914b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f807fe4d0c404a" /><Relationship Type="http://schemas.openxmlformats.org/officeDocument/2006/relationships/notesMaster" Target="/ppt/notesMasters/notesMaster1.xml" Id="Ra725b208554e44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cc94f98fd746f8" /><Relationship Type="http://schemas.openxmlformats.org/officeDocument/2006/relationships/notesMaster" Target="/ppt/notesMasters/notesMaster1.xml" Id="R23324d8f7b3a43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3d2bcd3ebe4328" /><Relationship Type="http://schemas.openxmlformats.org/officeDocument/2006/relationships/notesMaster" Target="/ppt/notesMasters/notesMaster1.xml" Id="R5c40b627d4ec45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d9a50979584d6c" /><Relationship Type="http://schemas.openxmlformats.org/officeDocument/2006/relationships/notesMaster" Target="/ppt/notesMasters/notesMaster1.xml" Id="R8e05db16c2af41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f5198467304d84" /><Relationship Type="http://schemas.openxmlformats.org/officeDocument/2006/relationships/notesMaster" Target="/ppt/notesMasters/notesMaster1.xml" Id="R4e7810040c414d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operational change: automation prepares evidence so people spend less time assembling reports and more time interpreting exceptions and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old reporting starting point with the prepared starting point. Do not claim the system eliminates review or makes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through the three rhythms. Emphasize who uses each output and the decision-support job it performs, not a feature inventory.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reliability is not a final check. It is a sequence of explicit gates with no silent advancement.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separation of concerns: retrieval answers from governed evidence, diagnostics observe state, and validation enforces contracts. Each can refuse.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Label every figure before discussing it. Point to the editable workbook assumptions if an audience wants to challenge the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platform improves the reporting starting point while preserving human authority. Invite questions, then open the workbook or technical reference only if useful.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sanitized case study, synthetic workbook, and private impact evidence ledger. No external visual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e34c957ce4a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71168e1942460e" /><Relationship Type="http://schemas.openxmlformats.org/officeDocument/2006/relationships/slideLayout" Target="/ppt/slideLayouts/slideLayout1.xml" Id="R2da40aa2dce744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a40aa2dce744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cd38669da410f" /><Relationship Type="http://schemas.openxmlformats.org/officeDocument/2006/relationships/notesSlide" Target="/ppt/notesSlides/notesSlide1.xml" Id="Rda6749b5dec849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b2ed829314474" /><Relationship Type="http://schemas.openxmlformats.org/officeDocument/2006/relationships/notesSlide" Target="/ppt/notesSlides/notesSlide2.xml" Id="R63a29f8f660945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1722138f9466a" /><Relationship Type="http://schemas.openxmlformats.org/officeDocument/2006/relationships/notesSlide" Target="/ppt/notesSlides/notesSlide3.xml" Id="R34be84564f9c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f01feab804205" /><Relationship Type="http://schemas.openxmlformats.org/officeDocument/2006/relationships/notesSlide" Target="/ppt/notesSlides/notesSlide4.xml" Id="Rea1508ae44f74d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f34a55e4f43b1" /><Relationship Type="http://schemas.openxmlformats.org/officeDocument/2006/relationships/notesSlide" Target="/ppt/notesSlides/notesSlide5.xml" Id="Rd40db59e5af945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cdc778c6447d7" /><Relationship Type="http://schemas.openxmlformats.org/officeDocument/2006/relationships/notesSlide" Target="/ppt/notesSlides/notesSlide6.xml" Id="Rcae0fd0124f24c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ebe882cc74bec" /><Relationship Type="http://schemas.openxmlformats.org/officeDocument/2006/relationships/notesSlide" Target="/ppt/notesSlides/notesSlide7.xml" Id="R9c19b0fe085044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FAC0676-3022-40BB-872C-68B866AA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28700"/>
            <a:ext cx="762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Prepared reports.</a:t>
            </a:r>
          </a:p>
          <a:p xmlns:a="http://schemas.openxmlformats.org/drawingml/2006/main">
            <a:pPr algn="l"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Faster review.</a:t>
            </a:r>
          </a:p>
          <a:p xmlns:a="http://schemas.openxmlformats.org/drawingml/2006/main">
            <a:pPr algn="l"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Better operational context.</a:t>
            </a:r>
          </a:p>
        </p:txBody>
      </p:sp>
      <p:sp>
        <p:nvSpPr>
          <p:cNvPr id="2" name="red-rule">
            <a:extLst xmlns:a="http://schemas.openxmlformats.org/drawingml/2006/main">
              <a:ext uri="{FF2B5EF4-FFF2-40B4-BE49-F238E27FC236}">
                <a16:creationId xmlns:a16="http://schemas.microsoft.com/office/drawing/2014/main" id="{75BEE126-24B4-420E-ACC6-07F04393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00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72D514E-3129-4047-8AAB-15E43A33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A guided 5-7 minute case study of a SharePoint-first manufacturing intelligence platform.</a:t>
            </a:r>
          </a:p>
        </p:txBody>
      </p:sp>
      <p:sp>
        <p:nvSpPr>
          <p:cNvPr id="4" name="role">
            <a:extLst xmlns:a="http://schemas.openxmlformats.org/drawingml/2006/main">
              <a:ext uri="{FF2B5EF4-FFF2-40B4-BE49-F238E27FC236}">
                <a16:creationId xmlns:a16="http://schemas.microsoft.com/office/drawing/2014/main" id="{F1A26737-A74D-4C3C-9732-22A7374A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</a:defRPr>
            </a:pPr>
            <a:r>
              <a:rPr sz="900" b="1">
                <a:solidFill>
                  <a:srgbClr val="D52B1E"/>
                </a:solidFill>
              </a:rPr>
              <a:t>THOMAS RYAN  ·  FORWARD DEPLOYED ENGINEER INTERN</a:t>
            </a:r>
          </a:p>
        </p:txBody>
      </p:sp>
    </p:spTree>
    <p:extLst>
      <p:ext uri="{BB962C8B-B14F-4D97-AF65-F5344CB8AC3E}">
        <p14:creationId xmlns:p14="http://schemas.microsoft.com/office/powerpoint/2010/main" val="1489419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526F0462-88C1-4BCB-97C4-6A581A21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THE OPERATIONAL CHANGE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BEF935EF-0B3E-48C0-9DD9-44A318BA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FE4B3BF-4C30-4337-AD74-6AF8AA0D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1717"/>
                </a:solidFill>
              </a:defRPr>
            </a:pPr>
            <a:r>
              <a:rPr sz="3225" b="1">
                <a:solidFill>
                  <a:srgbClr val="171717"/>
                </a:solidFill>
              </a:rPr>
              <a:t>The platform changes the starting point.</a:t>
            </a:r>
          </a:p>
        </p:txBody>
      </p:sp>
      <p:sp>
        <p:nvSpPr>
          <p:cNvPr id="4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A6C2553-CA7B-47F8-8E62-D0C9463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6262"/>
                </a:solidFill>
              </a:defRPr>
            </a:pPr>
            <a:r>
              <a:rPr sz="1125" b="1">
                <a:solidFill>
                  <a:srgbClr val="626262"/>
                </a:solidFill>
              </a:rPr>
              <a:t>BEFORE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283A80CF-DB30-45B1-985A-7749FEF3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262"/>
                </a:solidFill>
              </a:defRPr>
            </a:pPr>
            <a:r>
              <a:rPr sz="2100" b="0">
                <a:solidFill>
                  <a:srgbClr val="626262"/>
                </a:solidFill>
              </a:rPr>
              <a:t>Collect → reconcile → organize → manipulate → explain</a:t>
            </a:r>
          </a:p>
        </p:txBody>
      </p:sp>
      <p:sp>
        <p:nvSpPr>
          <p:cNvPr id="6" name="divider">
            <a:extLst xmlns:a="http://schemas.openxmlformats.org/drawingml/2006/main">
              <a:ext uri="{FF2B5EF4-FFF2-40B4-BE49-F238E27FC236}">
                <a16:creationId xmlns:a16="http://schemas.microsoft.com/office/drawing/2014/main" id="{563D63DB-152F-4696-B53E-0F04BB07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fter-label">
            <a:extLst xmlns:a="http://schemas.openxmlformats.org/drawingml/2006/main">
              <a:ext uri="{FF2B5EF4-FFF2-40B4-BE49-F238E27FC236}">
                <a16:creationId xmlns:a16="http://schemas.microsoft.com/office/drawing/2014/main" id="{A48EF59C-0858-43B6-83F2-838ED3AB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WITH THE PLATFORM</a:t>
            </a:r>
          </a:p>
        </p:txBody>
      </p:sp>
      <p:sp>
        <p:nvSpPr>
          <p:cNvPr id="8" name="after">
            <a:extLst xmlns:a="http://schemas.openxmlformats.org/drawingml/2006/main">
              <a:ext uri="{FF2B5EF4-FFF2-40B4-BE49-F238E27FC236}">
                <a16:creationId xmlns:a16="http://schemas.microsoft.com/office/drawing/2014/main" id="{113E993E-8A51-4235-8A29-621CB5E6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717"/>
                </a:solidFill>
              </a:defRPr>
            </a:pPr>
            <a:r>
              <a:rPr sz="2700" b="1">
                <a:solidFill>
                  <a:srgbClr val="171717"/>
                </a:solidFill>
              </a:rPr>
              <a:t>Review exceptions → add context → act</a:t>
            </a:r>
          </a:p>
        </p:txBody>
      </p:sp>
      <p:sp>
        <p:nvSpPr>
          <p:cNvPr id="9" name="boundary">
            <a:extLst xmlns:a="http://schemas.openxmlformats.org/drawingml/2006/main">
              <a:ext uri="{FF2B5EF4-FFF2-40B4-BE49-F238E27FC236}">
                <a16:creationId xmlns:a16="http://schemas.microsoft.com/office/drawing/2014/main" id="{570D5600-6FDE-44C5-B927-CA4558CC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52B1E"/>
                </a:solidFill>
              </a:defRPr>
            </a:pPr>
            <a:r>
              <a:rPr sz="1500" b="1">
                <a:solidFill>
                  <a:srgbClr val="D52B1E"/>
                </a:solidFill>
              </a:rPr>
              <a:t>Automation prepares. Supervisors and managers retain decision authority.</a:t>
            </a:r>
          </a:p>
        </p:txBody>
      </p:sp>
    </p:spTree>
    <p:extLst>
      <p:ext uri="{BB962C8B-B14F-4D97-AF65-F5344CB8AC3E}">
        <p14:creationId xmlns:p14="http://schemas.microsoft.com/office/powerpoint/2010/main" val="20265081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C4694F2D-6E72-4AC7-A3A4-603A1411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OUTPUTS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29232FC9-7AFF-4467-AE2F-904A678C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BE8BEA22-022C-4F8D-96AF-E86DD0E9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Each output supports a different operating rhythm.</a:t>
            </a:r>
          </a:p>
        </p:txBody>
      </p:sp>
      <p:sp>
        <p:nvSpPr>
          <p:cNvPr id="4" name="time-0">
            <a:extLst xmlns:a="http://schemas.openxmlformats.org/drawingml/2006/main">
              <a:ext uri="{FF2B5EF4-FFF2-40B4-BE49-F238E27FC236}">
                <a16:creationId xmlns:a16="http://schemas.microsoft.com/office/drawing/2014/main" id="{496FE91E-A7BE-4D7A-9283-4D5FD549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</a:defRPr>
            </a:pPr>
            <a:r>
              <a:rPr sz="1200" b="1">
                <a:solidFill>
                  <a:srgbClr val="D52B1E"/>
                </a:solidFill>
              </a:rPr>
              <a:t>SHIFT</a:t>
            </a:r>
          </a:p>
        </p:txBody>
      </p:sp>
      <p:sp>
        <p:nvSpPr>
          <p:cNvPr id="5" name="name-0">
            <a:extLst xmlns:a="http://schemas.openxmlformats.org/drawingml/2006/main">
              <a:ext uri="{FF2B5EF4-FFF2-40B4-BE49-F238E27FC236}">
                <a16:creationId xmlns:a16="http://schemas.microsoft.com/office/drawing/2014/main" id="{9428409E-5B2D-4B74-98D6-0C642286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28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Shift Drafts</a:t>
            </a:r>
          </a:p>
        </p:txBody>
      </p:sp>
      <p:sp>
        <p:nvSpPr>
          <p:cNvPr id="6" name="use-0">
            <a:extLst xmlns:a="http://schemas.openxmlformats.org/drawingml/2006/main">
              <a:ext uri="{FF2B5EF4-FFF2-40B4-BE49-F238E27FC236}">
                <a16:creationId xmlns:a16="http://schemas.microsoft.com/office/drawing/2014/main" id="{A2900FF8-CCA6-45A3-BC97-0D057D9B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247900"/>
            <a:ext cx="581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</a:defRPr>
            </a:pPr>
            <a:r>
              <a:rPr sz="1500" b="0">
                <a:solidFill>
                  <a:srgbClr val="626262"/>
                </a:solidFill>
              </a:rPr>
              <a:t>Supervisors review exceptions, add context, and finalize.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54151205-970D-4C91-8F4F-0B564B7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ime-1">
            <a:extLst xmlns:a="http://schemas.openxmlformats.org/drawingml/2006/main">
              <a:ext uri="{FF2B5EF4-FFF2-40B4-BE49-F238E27FC236}">
                <a16:creationId xmlns:a16="http://schemas.microsoft.com/office/drawing/2014/main" id="{ECB25074-5593-41BB-84DC-5EC69A8C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</a:defRPr>
            </a:pPr>
            <a:r>
              <a:rPr sz="1200" b="1">
                <a:solidFill>
                  <a:srgbClr val="D52B1E"/>
                </a:solidFill>
              </a:rPr>
              <a:t>DAY</a:t>
            </a:r>
          </a:p>
        </p:txBody>
      </p:sp>
      <p:sp>
        <p:nvSpPr>
          <p:cNvPr id="9" name="name-1">
            <a:extLst xmlns:a="http://schemas.openxmlformats.org/drawingml/2006/main">
              <a:ext uri="{FF2B5EF4-FFF2-40B4-BE49-F238E27FC236}">
                <a16:creationId xmlns:a16="http://schemas.microsoft.com/office/drawing/2014/main" id="{C3AAAA9A-0411-4E7B-8BF0-38160A35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48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Daily Production</a:t>
            </a:r>
          </a:p>
        </p:txBody>
      </p:sp>
      <p:sp>
        <p:nvSpPr>
          <p:cNvPr id="10" name="use-1">
            <a:extLst xmlns:a="http://schemas.openxmlformats.org/drawingml/2006/main">
              <a:ext uri="{FF2B5EF4-FFF2-40B4-BE49-F238E27FC236}">
                <a16:creationId xmlns:a16="http://schemas.microsoft.com/office/drawing/2014/main" id="{0F140670-1198-41A0-9CBD-B69F08E3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67100"/>
            <a:ext cx="581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</a:defRPr>
            </a:pPr>
            <a:r>
              <a:rPr sz="1500" b="0">
                <a:solidFill>
                  <a:srgbClr val="626262"/>
                </a:solidFill>
              </a:rPr>
              <a:t>Managers investigate constraints and prioritize follow-up.</a:t>
            </a:r>
          </a:p>
        </p:txBody>
      </p:sp>
      <p:sp>
        <p:nvSpPr>
          <p:cNvPr id="11" name="line-1">
            <a:extLst xmlns:a="http://schemas.openxmlformats.org/drawingml/2006/main">
              <a:ext uri="{FF2B5EF4-FFF2-40B4-BE49-F238E27FC236}">
                <a16:creationId xmlns:a16="http://schemas.microsoft.com/office/drawing/2014/main" id="{0126EFD8-2813-4199-AC45-BCB87840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ime-2">
            <a:extLst xmlns:a="http://schemas.openxmlformats.org/drawingml/2006/main">
              <a:ext uri="{FF2B5EF4-FFF2-40B4-BE49-F238E27FC236}">
                <a16:creationId xmlns:a16="http://schemas.microsoft.com/office/drawing/2014/main" id="{4F57FFD2-9B27-4EE8-AAA8-4411DA65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</a:defRPr>
            </a:pPr>
            <a:r>
              <a:rPr sz="1200" b="1">
                <a:solidFill>
                  <a:srgbClr val="D52B1E"/>
                </a:solidFill>
              </a:rPr>
              <a:t>WEEK</a:t>
            </a:r>
          </a:p>
        </p:txBody>
      </p:sp>
      <p:sp>
        <p:nvSpPr>
          <p:cNvPr id="13" name="name-2">
            <a:extLst xmlns:a="http://schemas.openxmlformats.org/drawingml/2006/main">
              <a:ext uri="{FF2B5EF4-FFF2-40B4-BE49-F238E27FC236}">
                <a16:creationId xmlns:a16="http://schemas.microsoft.com/office/drawing/2014/main" id="{4F7E044F-755F-4C20-9651-648BC1E2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Production + Downtime</a:t>
            </a:r>
          </a:p>
        </p:txBody>
      </p:sp>
      <p:sp>
        <p:nvSpPr>
          <p:cNvPr id="14" name="use-2">
            <a:extLst xmlns:a="http://schemas.openxmlformats.org/drawingml/2006/main">
              <a:ext uri="{FF2B5EF4-FFF2-40B4-BE49-F238E27FC236}">
                <a16:creationId xmlns:a16="http://schemas.microsoft.com/office/drawing/2014/main" id="{4499348A-5085-44C8-BC1A-945240F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686300"/>
            <a:ext cx="581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</a:defRPr>
            </a:pPr>
            <a:r>
              <a:rPr sz="1500" b="0">
                <a:solidFill>
                  <a:srgbClr val="626262"/>
                </a:solidFill>
              </a:rPr>
              <a:t>Teams distinguish recurring problems from isolated events.</a:t>
            </a:r>
          </a:p>
        </p:txBody>
      </p:sp>
    </p:spTree>
    <p:extLst>
      <p:ext uri="{BB962C8B-B14F-4D97-AF65-F5344CB8AC3E}">
        <p14:creationId xmlns:p14="http://schemas.microsoft.com/office/powerpoint/2010/main" val="6034229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eyebrow">
            <a:extLst xmlns:a="http://schemas.openxmlformats.org/drawingml/2006/main">
              <a:ext uri="{FF2B5EF4-FFF2-40B4-BE49-F238E27FC236}">
                <a16:creationId xmlns:a16="http://schemas.microsoft.com/office/drawing/2014/main" id="{B11923D8-15B8-4DD4-BDEA-6A77D607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TRACEABLE WORKFLOW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6B7A8599-1E67-464A-B655-78BE11F2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3CB7263-2065-4881-85BB-28339A4B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Evidence advances through explicit gates.</a:t>
            </a:r>
          </a:p>
        </p:txBody>
      </p:sp>
      <p:sp>
        <p:nvSpPr>
          <p:cNvPr id="4" name="edge-0">
            <a:extLst xmlns:a="http://schemas.openxmlformats.org/drawingml/2006/main">
              <a:ext uri="{FF2B5EF4-FFF2-40B4-BE49-F238E27FC236}">
                <a16:creationId xmlns:a16="http://schemas.microsoft.com/office/drawing/2014/main" id="{C5176195-B6F1-44E2-9BEE-88A2A252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0">
            <a:extLst xmlns:a="http://schemas.openxmlformats.org/drawingml/2006/main">
              <a:ext uri="{FF2B5EF4-FFF2-40B4-BE49-F238E27FC236}">
                <a16:creationId xmlns:a16="http://schemas.microsoft.com/office/drawing/2014/main" id="{5F2248A5-4930-4A7A-9180-7F615857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6" name="num-0">
            <a:extLst xmlns:a="http://schemas.openxmlformats.org/drawingml/2006/main">
              <a:ext uri="{FF2B5EF4-FFF2-40B4-BE49-F238E27FC236}">
                <a16:creationId xmlns:a16="http://schemas.microsoft.com/office/drawing/2014/main" id="{99283141-842D-44E9-ACA9-D1FCB2D8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01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10949AFB-2531-49D3-92B6-9DDE0376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INPUT</a:t>
            </a:r>
          </a:p>
        </p:txBody>
      </p:sp>
      <p:sp>
        <p:nvSpPr>
          <p:cNvPr id="8" name="desc-0">
            <a:extLst xmlns:a="http://schemas.openxmlformats.org/drawingml/2006/main">
              <a:ext uri="{FF2B5EF4-FFF2-40B4-BE49-F238E27FC236}">
                <a16:creationId xmlns:a16="http://schemas.microsoft.com/office/drawing/2014/main" id="{7BAF870D-6865-4ABF-9E40-5BC96BBD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Forms, files, events</a:t>
            </a:r>
          </a:p>
        </p:txBody>
      </p:sp>
      <p:sp>
        <p:nvSpPr>
          <p:cNvPr id="9" name="edge-1">
            <a:extLst xmlns:a="http://schemas.openxmlformats.org/drawingml/2006/main">
              <a:ext uri="{FF2B5EF4-FFF2-40B4-BE49-F238E27FC236}">
                <a16:creationId xmlns:a16="http://schemas.microsoft.com/office/drawing/2014/main" id="{70F2F37B-4410-4DCC-BEC8-651EE590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ode-1">
            <a:extLst xmlns:a="http://schemas.openxmlformats.org/drawingml/2006/main">
              <a:ext uri="{FF2B5EF4-FFF2-40B4-BE49-F238E27FC236}">
                <a16:creationId xmlns:a16="http://schemas.microsoft.com/office/drawing/2014/main" id="{6ECD3FB3-41B3-457E-B9EA-943D0DB2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A8E84F0B-EE51-40EB-9CE8-58A34121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DDA3A81A-DC2C-4A95-B712-5A23853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PREPARE</a:t>
            </a:r>
          </a:p>
        </p:txBody>
      </p:sp>
      <p:sp>
        <p:nvSpPr>
          <p:cNvPr id="13" name="desc-1">
            <a:extLst xmlns:a="http://schemas.openxmlformats.org/drawingml/2006/main">
              <a:ext uri="{FF2B5EF4-FFF2-40B4-BE49-F238E27FC236}">
                <a16:creationId xmlns:a16="http://schemas.microsoft.com/office/drawing/2014/main" id="{81AFF797-DE07-4D67-B867-B264471C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Ingest, reconcile, link</a:t>
            </a:r>
          </a:p>
        </p:txBody>
      </p:sp>
      <p:sp>
        <p:nvSpPr>
          <p:cNvPr id="14" name="edge-2">
            <a:extLst xmlns:a="http://schemas.openxmlformats.org/drawingml/2006/main">
              <a:ext uri="{FF2B5EF4-FFF2-40B4-BE49-F238E27FC236}">
                <a16:creationId xmlns:a16="http://schemas.microsoft.com/office/drawing/2014/main" id="{BEBED2CB-6558-4D0D-9A91-E2FE11EB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ode-2">
            <a:extLst xmlns:a="http://schemas.openxmlformats.org/drawingml/2006/main">
              <a:ext uri="{FF2B5EF4-FFF2-40B4-BE49-F238E27FC236}">
                <a16:creationId xmlns:a16="http://schemas.microsoft.com/office/drawing/2014/main" id="{CB49647C-DEA1-4527-B480-D0B177A5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B240D0BC-7723-4C03-9E36-62094246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03</a:t>
            </a:r>
          </a:p>
        </p:txBody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C57B27C8-E28F-4237-8CC0-3AF6FA1C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VALIDATE</a:t>
            </a:r>
          </a:p>
        </p:txBody>
      </p:sp>
      <p:sp>
        <p:nvSpPr>
          <p:cNvPr id="18" name="desc-2">
            <a:extLst xmlns:a="http://schemas.openxmlformats.org/drawingml/2006/main">
              <a:ext uri="{FF2B5EF4-FFF2-40B4-BE49-F238E27FC236}">
                <a16:creationId xmlns:a16="http://schemas.microsoft.com/office/drawing/2014/main" id="{3031A5DE-5B70-49F5-9035-10A6494F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Contracts, semantics</a:t>
            </a:r>
          </a:p>
        </p:txBody>
      </p:sp>
      <p:sp>
        <p:nvSpPr>
          <p:cNvPr id="19" name="edge-3">
            <a:extLst xmlns:a="http://schemas.openxmlformats.org/drawingml/2006/main">
              <a:ext uri="{FF2B5EF4-FFF2-40B4-BE49-F238E27FC236}">
                <a16:creationId xmlns:a16="http://schemas.microsoft.com/office/drawing/2014/main" id="{8DCB2936-74E5-4428-99A1-D9F059B9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7657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node-3">
            <a:extLst xmlns:a="http://schemas.openxmlformats.org/drawingml/2006/main">
              <a:ext uri="{FF2B5EF4-FFF2-40B4-BE49-F238E27FC236}">
                <a16:creationId xmlns:a16="http://schemas.microsoft.com/office/drawing/2014/main" id="{EF2C4C9F-F82D-4F97-A98F-4E4BFDE1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1" name="num-3">
            <a:extLst xmlns:a="http://schemas.openxmlformats.org/drawingml/2006/main">
              <a:ext uri="{FF2B5EF4-FFF2-40B4-BE49-F238E27FC236}">
                <a16:creationId xmlns:a16="http://schemas.microsoft.com/office/drawing/2014/main" id="{8EF14047-F1A7-4871-823F-72CE2216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04</a:t>
            </a:r>
          </a:p>
        </p:txBody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A2590D92-82E6-45AD-B202-92A43CC3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DELIVER</a:t>
            </a:r>
          </a:p>
        </p:txBody>
      </p:sp>
      <p:sp>
        <p:nvSpPr>
          <p:cNvPr id="23" name="desc-3">
            <a:extLst xmlns:a="http://schemas.openxmlformats.org/drawingml/2006/main">
              <a:ext uri="{FF2B5EF4-FFF2-40B4-BE49-F238E27FC236}">
                <a16:creationId xmlns:a16="http://schemas.microsoft.com/office/drawing/2014/main" id="{C0D5F81D-846D-4ABB-A10A-B42991D3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</a:rPr>
              <a:t>Reports, dashboard</a:t>
            </a:r>
          </a:p>
        </p:txBody>
      </p:sp>
      <p:sp>
        <p:nvSpPr>
          <p:cNvPr id="24" name="node-4">
            <a:extLst xmlns:a="http://schemas.openxmlformats.org/drawingml/2006/main">
              <a:ext uri="{FF2B5EF4-FFF2-40B4-BE49-F238E27FC236}">
                <a16:creationId xmlns:a16="http://schemas.microsoft.com/office/drawing/2014/main" id="{4C197F9F-F09F-4940-A6B7-4476F8A8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05050"/>
            <a:ext cx="1600200" cy="1714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5" name="num-4">
            <a:extLst xmlns:a="http://schemas.openxmlformats.org/drawingml/2006/main">
              <a:ext uri="{FF2B5EF4-FFF2-40B4-BE49-F238E27FC236}">
                <a16:creationId xmlns:a16="http://schemas.microsoft.com/office/drawing/2014/main" id="{1ECF6EE0-D192-4315-94C8-96CA1A4D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7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step-4">
            <a:extLst xmlns:a="http://schemas.openxmlformats.org/drawingml/2006/main">
              <a:ext uri="{FF2B5EF4-FFF2-40B4-BE49-F238E27FC236}">
                <a16:creationId xmlns:a16="http://schemas.microsoft.com/office/drawing/2014/main" id="{C0136629-38B7-44A2-AF3E-97B3DAA3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33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27" name="desc-4">
            <a:extLst xmlns:a="http://schemas.openxmlformats.org/drawingml/2006/main">
              <a:ext uri="{FF2B5EF4-FFF2-40B4-BE49-F238E27FC236}">
                <a16:creationId xmlns:a16="http://schemas.microsoft.com/office/drawing/2014/main" id="{453E6BAA-0DAD-4113-A357-07FA062E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257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Human judgment</a:t>
            </a:r>
          </a:p>
        </p:txBody>
      </p:sp>
      <p:sp>
        <p:nvSpPr>
          <p:cNvPr id="28" name="gate-note">
            <a:extLst xmlns:a="http://schemas.openxmlformats.org/drawingml/2006/main">
              <a:ext uri="{FF2B5EF4-FFF2-40B4-BE49-F238E27FC236}">
                <a16:creationId xmlns:a16="http://schemas.microsoft.com/office/drawing/2014/main" id="{1B4A135C-1F97-43E0-A26D-7C2DC3E4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Missing or ambiguous evidence stops; accepted writes settle through exact readback.</a:t>
            </a:r>
          </a:p>
        </p:txBody>
      </p:sp>
    </p:spTree>
    <p:extLst>
      <p:ext uri="{BB962C8B-B14F-4D97-AF65-F5344CB8AC3E}">
        <p14:creationId xmlns:p14="http://schemas.microsoft.com/office/powerpoint/2010/main" val="7322959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8C04899E-C5C4-4583-BD0E-9150B1F4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OPERATIONAL INTELLIGENCE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71EBD661-374A-4AB2-8E7A-AA73F273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133FD2EA-803E-4563-A437-9148EB01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717"/>
                </a:solidFill>
              </a:defRPr>
            </a:pPr>
            <a:r>
              <a:rPr sz="3000" b="1">
                <a:solidFill>
                  <a:srgbClr val="171717"/>
                </a:solidFill>
              </a:rPr>
              <a:t>Retrieve, diagnose, and validate - without taking authority.</a:t>
            </a:r>
          </a:p>
        </p:txBody>
      </p:sp>
      <p:sp>
        <p:nvSpPr>
          <p:cNvPr id="4" name="retrieve">
            <a:extLst xmlns:a="http://schemas.openxmlformats.org/drawingml/2006/main">
              <a:ext uri="{FF2B5EF4-FFF2-40B4-BE49-F238E27FC236}">
                <a16:creationId xmlns:a16="http://schemas.microsoft.com/office/drawing/2014/main" id="{0DF3EF07-2E51-4415-AB7A-E42C3223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RETRIEVE</a:t>
            </a:r>
          </a:p>
        </p:txBody>
      </p:sp>
      <p:sp>
        <p:nvSpPr>
          <p:cNvPr id="5" name="retrieve-copy">
            <a:extLst xmlns:a="http://schemas.openxmlformats.org/drawingml/2006/main">
              <a:ext uri="{FF2B5EF4-FFF2-40B4-BE49-F238E27FC236}">
                <a16:creationId xmlns:a16="http://schemas.microsoft.com/office/drawing/2014/main" id="{866052FF-EF4A-4724-A7E3-315D6649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Bounded chatbot</a:t>
            </a:r>
          </a:p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Citations + fallback</a:t>
            </a:r>
          </a:p>
        </p:txBody>
      </p:sp>
      <p:sp>
        <p:nvSpPr>
          <p:cNvPr id="6" name="diagnose">
            <a:extLst xmlns:a="http://schemas.openxmlformats.org/drawingml/2006/main">
              <a:ext uri="{FF2B5EF4-FFF2-40B4-BE49-F238E27FC236}">
                <a16:creationId xmlns:a16="http://schemas.microsoft.com/office/drawing/2014/main" id="{8AF8C391-B1BC-4708-9A2B-2677796E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8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DIAGNOSE</a:t>
            </a:r>
          </a:p>
        </p:txBody>
      </p:sp>
      <p:sp>
        <p:nvSpPr>
          <p:cNvPr id="7" name="diagnose-copy">
            <a:extLst xmlns:a="http://schemas.openxmlformats.org/drawingml/2006/main">
              <a:ext uri="{FF2B5EF4-FFF2-40B4-BE49-F238E27FC236}">
                <a16:creationId xmlns:a16="http://schemas.microsoft.com/office/drawing/2014/main" id="{6C77C540-0CA3-49C1-8049-AC193F1E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Read-only doctor</a:t>
            </a:r>
          </a:p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Exceptions + settlement</a:t>
            </a:r>
          </a:p>
        </p:txBody>
      </p:sp>
      <p:sp>
        <p:nvSpPr>
          <p:cNvPr id="8" name="validate">
            <a:extLst xmlns:a="http://schemas.openxmlformats.org/drawingml/2006/main">
              <a:ext uri="{FF2B5EF4-FFF2-40B4-BE49-F238E27FC236}">
                <a16:creationId xmlns:a16="http://schemas.microsoft.com/office/drawing/2014/main" id="{B0A8B7D5-AF5A-465F-9734-6BCC4BD9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2B1E"/>
                </a:solidFill>
              </a:defRPr>
            </a:pPr>
            <a:r>
              <a:rPr sz="1125" b="1">
                <a:solidFill>
                  <a:srgbClr val="D52B1E"/>
                </a:solidFill>
              </a:rPr>
              <a:t>VALIDATE</a:t>
            </a:r>
          </a:p>
        </p:txBody>
      </p:sp>
      <p:sp>
        <p:nvSpPr>
          <p:cNvPr id="9" name="validate-copy">
            <a:extLst xmlns:a="http://schemas.openxmlformats.org/drawingml/2006/main">
              <a:ext uri="{FF2B5EF4-FFF2-40B4-BE49-F238E27FC236}">
                <a16:creationId xmlns:a16="http://schemas.microsoft.com/office/drawing/2014/main" id="{D50C1F53-A4B3-4F50-B209-187B0C09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813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Governed oracle</a:t>
            </a:r>
          </a:p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Contracts + refusal</a:t>
            </a:r>
          </a:p>
        </p:txBody>
      </p:sp>
      <p:sp>
        <p:nvSpPr>
          <p:cNvPr id="10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D3CC0D2D-57BF-4490-A599-2B7C5F92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028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oundary">
            <a:extLst xmlns:a="http://schemas.openxmlformats.org/drawingml/2006/main">
              <a:ext uri="{FF2B5EF4-FFF2-40B4-BE49-F238E27FC236}">
                <a16:creationId xmlns:a16="http://schemas.microsoft.com/office/drawing/2014/main" id="{F72A7FF4-D50D-48EA-9126-875DA051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No autonomous decisions · no invented evidence · no publication authority</a:t>
            </a:r>
          </a:p>
        </p:txBody>
      </p:sp>
    </p:spTree>
    <p:extLst>
      <p:ext uri="{BB962C8B-B14F-4D97-AF65-F5344CB8AC3E}">
        <p14:creationId xmlns:p14="http://schemas.microsoft.com/office/powerpoint/2010/main" val="7064645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BAD3AFF2-DE29-42DA-A25A-980AC098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QUALIFIED VALUE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331669C0-8908-4952-9360-53D77793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B891F0A-4E8D-4C2B-908C-13CE1CBD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01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The value model is inspectable, not promotional.</a:t>
            </a:r>
          </a:p>
        </p:txBody>
      </p:sp>
      <p:sp>
        <p:nvSpPr>
          <p:cNvPr id="4" name="labor-big">
            <a:extLst xmlns:a="http://schemas.openxmlformats.org/drawingml/2006/main">
              <a:ext uri="{FF2B5EF4-FFF2-40B4-BE49-F238E27FC236}">
                <a16:creationId xmlns:a16="http://schemas.microsoft.com/office/drawing/2014/main" id="{53A40CEB-3ADF-4B37-952E-206F5085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D52B1E"/>
                </a:solidFill>
              </a:defRPr>
            </a:pPr>
            <a:r>
              <a:rPr sz="5400" b="1">
                <a:solidFill>
                  <a:srgbClr val="D52B1E"/>
                </a:solidFill>
              </a:rPr>
              <a:t>30</a:t>
            </a:r>
          </a:p>
        </p:txBody>
      </p:sp>
      <p:sp>
        <p:nvSpPr>
          <p:cNvPr id="5" name="labor-unit">
            <a:extLst xmlns:a="http://schemas.openxmlformats.org/drawingml/2006/main">
              <a:ext uri="{FF2B5EF4-FFF2-40B4-BE49-F238E27FC236}">
                <a16:creationId xmlns:a16="http://schemas.microsoft.com/office/drawing/2014/main" id="{C1F81110-580A-4D31-9E97-AD59A7E0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hours/week</a:t>
            </a:r>
          </a:p>
        </p:txBody>
      </p:sp>
      <p:sp>
        <p:nvSpPr>
          <p:cNvPr id="6" name="labor-copy">
            <a:extLst xmlns:a="http://schemas.openxmlformats.org/drawingml/2006/main">
              <a:ext uri="{FF2B5EF4-FFF2-40B4-BE49-F238E27FC236}">
                <a16:creationId xmlns:a16="http://schemas.microsoft.com/office/drawing/2014/main" id="{92F4C987-461A-437E-9F01-E958D845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61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Modeled reporting effort addressed</a:t>
            </a:r>
          </a:p>
          <a:p xmlns:a="http://schemas.openxmlformats.org/drawingml/2006/main">
            <a:pPr algn="l"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≈ $52K annual labor value</a:t>
            </a:r>
          </a:p>
        </p:txBody>
      </p:sp>
      <p:sp>
        <p:nvSpPr>
          <p:cNvPr id="7" name="retrieval-big">
            <a:extLst xmlns:a="http://schemas.openxmlformats.org/drawingml/2006/main">
              <a:ext uri="{FF2B5EF4-FFF2-40B4-BE49-F238E27FC236}">
                <a16:creationId xmlns:a16="http://schemas.microsoft.com/office/drawing/2014/main" id="{DAEBAAD8-002E-4F92-AE17-0C9FB26A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D52B1E"/>
                </a:solidFill>
              </a:defRPr>
            </a:pPr>
            <a:r>
              <a:rPr sz="4950" b="1">
                <a:solidFill>
                  <a:srgbClr val="D52B1E"/>
                </a:solidFill>
              </a:rPr>
              <a:t>≈90%</a:t>
            </a:r>
          </a:p>
        </p:txBody>
      </p:sp>
      <p:sp>
        <p:nvSpPr>
          <p:cNvPr id="8" name="retrieval-copy">
            <a:extLst xmlns:a="http://schemas.openxmlformats.org/drawingml/2006/main">
              <a:ext uri="{FF2B5EF4-FFF2-40B4-BE49-F238E27FC236}">
                <a16:creationId xmlns:a16="http://schemas.microsoft.com/office/drawing/2014/main" id="{3B410233-5062-46ED-A886-70944875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3850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Estimated retrieval improvement</a:t>
            </a:r>
          </a:p>
          <a:p xmlns:a="http://schemas.openxmlformats.org/drawingml/2006/main">
            <a:pPr algn="l"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20-30 minutes → 1-2 minutes</a:t>
            </a:r>
          </a:p>
        </p:txBody>
      </p:sp>
      <p:sp>
        <p:nvSpPr>
          <p:cNvPr id="9" name="upper">
            <a:extLst xmlns:a="http://schemas.openxmlformats.org/drawingml/2006/main">
              <a:ext uri="{FF2B5EF4-FFF2-40B4-BE49-F238E27FC236}">
                <a16:creationId xmlns:a16="http://schemas.microsoft.com/office/drawing/2014/main" id="{A6E09BC8-C40C-4F4D-9CF6-14F3D92F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98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UPPER-BOUND SCENARIO</a:t>
            </a:r>
          </a:p>
        </p:txBody>
      </p:sp>
      <p:sp>
        <p:nvSpPr>
          <p:cNvPr id="10" name="upper-copy">
            <a:extLst xmlns:a="http://schemas.openxmlformats.org/drawingml/2006/main">
              <a:ext uri="{FF2B5EF4-FFF2-40B4-BE49-F238E27FC236}">
                <a16:creationId xmlns:a16="http://schemas.microsoft.com/office/drawing/2014/main" id="{5C42874A-B76E-46F7-9FB3-F1A6883D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227.5K widgets</a:t>
            </a:r>
          </a:p>
          <a:p xmlns:a="http://schemas.openxmlformats.org/drawingml/2006/main">
            <a:pPr algn="l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≈ $205K contribution margin</a:t>
            </a:r>
          </a:p>
        </p:txBody>
      </p:sp>
      <p:sp>
        <p:nvSpPr>
          <p:cNvPr id="11" name="qualification">
            <a:extLst xmlns:a="http://schemas.openxmlformats.org/drawingml/2006/main">
              <a:ext uri="{FF2B5EF4-FFF2-40B4-BE49-F238E27FC236}">
                <a16:creationId xmlns:a16="http://schemas.microsoft.com/office/drawing/2014/main" id="{1FEEF611-9ABD-4829-A834-EAEAE710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287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2" name="qualification-copy">
            <a:extLst xmlns:a="http://schemas.openxmlformats.org/drawingml/2006/main">
              <a:ext uri="{FF2B5EF4-FFF2-40B4-BE49-F238E27FC236}">
                <a16:creationId xmlns:a16="http://schemas.microsoft.com/office/drawing/2014/main" id="{D185FCB1-F490-47E6-BA2E-1ABD622F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0125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Planning scenarios - not booked savings, realized production, guaranteed margin, or autonomous outcomes.</a:t>
            </a:r>
          </a:p>
        </p:txBody>
      </p:sp>
    </p:spTree>
    <p:extLst>
      <p:ext uri="{BB962C8B-B14F-4D97-AF65-F5344CB8AC3E}">
        <p14:creationId xmlns:p14="http://schemas.microsoft.com/office/powerpoint/2010/main" val="13122646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08127D3-91DD-4DCE-AB8F-49EFAE32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65C"/>
                </a:solidFill>
              </a:defRPr>
            </a:pPr>
            <a:r>
              <a:rPr sz="1050" b="1">
                <a:solidFill>
                  <a:srgbClr val="FF665C"/>
                </a:solidFill>
              </a:rPr>
              <a:t>THE TAKEAWAY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2DAC3708-EEEA-4FF7-9312-94FC0675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Prepared evidence creates more time for interpretation and action.</a:t>
            </a:r>
          </a:p>
        </p:txBody>
      </p:sp>
      <p:sp>
        <p:nvSpPr>
          <p:cNvPr id="3" name="close-copy">
            <a:extLst xmlns:a="http://schemas.openxmlformats.org/drawingml/2006/main">
              <a:ext uri="{FF2B5EF4-FFF2-40B4-BE49-F238E27FC236}">
                <a16:creationId xmlns:a16="http://schemas.microsoft.com/office/drawing/2014/main" id="{B075202B-D26D-463E-BC65-D0D6C856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6C6C6"/>
                </a:solidFill>
              </a:defRPr>
            </a:pPr>
            <a:r>
              <a:rPr sz="1875" b="0">
                <a:solidFill>
                  <a:srgbClr val="C6C6C6"/>
                </a:solidFill>
              </a:rPr>
              <a:t>The system makes reporting more consistent and inspectable.</a:t>
            </a:r>
          </a:p>
          <a:p xmlns:a="http://schemas.openxmlformats.org/drawingml/2006/main">
            <a:pPr algn="l">
              <a:defRPr sz="1875" b="0">
                <a:solidFill>
                  <a:srgbClr val="C6C6C6"/>
                </a:solidFill>
              </a:defRPr>
            </a:pPr>
            <a:r>
              <a:rPr sz="1875" b="0">
                <a:solidFill>
                  <a:srgbClr val="C6C6C6"/>
                </a:solidFill>
              </a:rPr>
              <a:t>People remain responsible for operational judgment.</a:t>
            </a:r>
          </a:p>
        </p:txBody>
      </p:sp>
      <p:sp>
        <p:nvSpPr>
          <p:cNvPr id="4" name="red-rule">
            <a:extLst xmlns:a="http://schemas.openxmlformats.org/drawingml/2006/main">
              <a:ext uri="{FF2B5EF4-FFF2-40B4-BE49-F238E27FC236}">
                <a16:creationId xmlns:a16="http://schemas.microsoft.com/office/drawing/2014/main" id="{6898FA00-98D3-4EB5-9D5B-37D069E5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B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">
            <a:extLst xmlns:a="http://schemas.openxmlformats.org/drawingml/2006/main">
              <a:ext uri="{FF2B5EF4-FFF2-40B4-BE49-F238E27FC236}">
                <a16:creationId xmlns:a16="http://schemas.microsoft.com/office/drawing/2014/main" id="{CA5C6183-33D4-4FB0-9E13-300C228D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Inspect the evidence workbook or use the technical reference for implementation depth.</a:t>
            </a:r>
          </a:p>
        </p:txBody>
      </p:sp>
    </p:spTree>
    <p:extLst>
      <p:ext uri="{BB962C8B-B14F-4D97-AF65-F5344CB8AC3E}">
        <p14:creationId xmlns:p14="http://schemas.microsoft.com/office/powerpoint/2010/main" val="1654855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2026-08-25T03:04:07.0030000Z</dcterms:created>
  <dcterms:modified xsi:type="dcterms:W3CDTF">2026-08-25T03:04:07.0030000Z</dcterms:modified>
</coreProperties>
</file>