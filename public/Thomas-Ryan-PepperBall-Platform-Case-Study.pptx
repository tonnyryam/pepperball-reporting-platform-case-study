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34c3720fd44ecf" /><Relationship Type="http://schemas.openxmlformats.org/officeDocument/2006/relationships/extended-properties" Target="/docProps/app.xml" Id="Rf03d5ab4743c4253" /><Relationship Type="http://schemas.openxmlformats.org/officeDocument/2006/relationships/officeDocument" Target="/ppt/presentation.xml" Id="Rd8c01610c9a840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ee9fdcda45464f"/>
  </p:sldMasterIdLst>
  <p:notesMasterIdLst>
    <p:notesMasterId xmlns:r="http://schemas.openxmlformats.org/officeDocument/2006/relationships" r:id="R061c3f73cc0641eb"/>
  </p:notesMasterIdLst>
  <p:sldIdLst>
    <p:sldId xmlns:r="http://schemas.openxmlformats.org/officeDocument/2006/relationships" id="256" r:id="Ra0e54e4230fd4b55"/>
    <p:sldId xmlns:r="http://schemas.openxmlformats.org/officeDocument/2006/relationships" id="257" r:id="R6c5c1ebbbbcb441b"/>
    <p:sldId xmlns:r="http://schemas.openxmlformats.org/officeDocument/2006/relationships" id="258" r:id="Ra0a227da42dd4d72"/>
    <p:sldId xmlns:r="http://schemas.openxmlformats.org/officeDocument/2006/relationships" id="259" r:id="Rbee04b4477e84939"/>
    <p:sldId xmlns:r="http://schemas.openxmlformats.org/officeDocument/2006/relationships" id="260" r:id="R05540dba719c45eb"/>
    <p:sldId xmlns:r="http://schemas.openxmlformats.org/officeDocument/2006/relationships" id="261" r:id="R649e385a8f064e66"/>
    <p:sldId xmlns:r="http://schemas.openxmlformats.org/officeDocument/2006/relationships" id="262" r:id="R026e95b253e94806"/>
    <p:sldId xmlns:r="http://schemas.openxmlformats.org/officeDocument/2006/relationships" id="263" r:id="R429c2d5c006043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343596427a44cd" /><Relationship Type="http://schemas.openxmlformats.org/officeDocument/2006/relationships/slideMaster" Target="/ppt/slideMasters/slideMaster1.xml" Id="Rdbee9fdcda45464f" /><Relationship Type="http://schemas.openxmlformats.org/officeDocument/2006/relationships/notesMaster" Target="/ppt/notesMasters/notesMaster1.xml" Id="R061c3f73cc0641eb" /><Relationship Type="http://schemas.openxmlformats.org/officeDocument/2006/relationships/presProps" Target="/ppt/presProps.xml" Id="R6f98cd1fa2ea4757" /><Relationship Type="http://schemas.openxmlformats.org/officeDocument/2006/relationships/tableStyles" Target="/ppt/tableStyles.xml" Id="R6368308e758f4041" /><Relationship Type="http://schemas.openxmlformats.org/officeDocument/2006/relationships/slide" Target="/ppt/slides/slide1.xml" Id="Ra0e54e4230fd4b55" /><Relationship Type="http://schemas.openxmlformats.org/officeDocument/2006/relationships/slide" Target="/ppt/slides/slide2.xml" Id="R6c5c1ebbbbcb441b" /><Relationship Type="http://schemas.openxmlformats.org/officeDocument/2006/relationships/slide" Target="/ppt/slides/slide3.xml" Id="Ra0a227da42dd4d72" /><Relationship Type="http://schemas.openxmlformats.org/officeDocument/2006/relationships/slide" Target="/ppt/slides/slide4.xml" Id="Rbee04b4477e84939" /><Relationship Type="http://schemas.openxmlformats.org/officeDocument/2006/relationships/slide" Target="/ppt/slides/slide5.xml" Id="R05540dba719c45eb" /><Relationship Type="http://schemas.openxmlformats.org/officeDocument/2006/relationships/slide" Target="/ppt/slides/slide6.xml" Id="R649e385a8f064e66" /><Relationship Type="http://schemas.openxmlformats.org/officeDocument/2006/relationships/slide" Target="/ppt/slides/slide7.xml" Id="R026e95b253e94806" /><Relationship Type="http://schemas.openxmlformats.org/officeDocument/2006/relationships/slide" Target="/ppt/slides/slide8.xml" Id="R429c2d5c006043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bd28408f7847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9047192d15465a" /><Relationship Type="http://schemas.openxmlformats.org/officeDocument/2006/relationships/notesMaster" Target="/ppt/notesMasters/notesMaster1.xml" Id="Rf7e457038b7240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9b9cac6aea480c" /><Relationship Type="http://schemas.openxmlformats.org/officeDocument/2006/relationships/notesMaster" Target="/ppt/notesMasters/notesMaster1.xml" Id="R423b795563134a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c23fdaee654340" /><Relationship Type="http://schemas.openxmlformats.org/officeDocument/2006/relationships/notesMaster" Target="/ppt/notesMasters/notesMaster1.xml" Id="Ree3e2a68340f4b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5a795a11ca4874" /><Relationship Type="http://schemas.openxmlformats.org/officeDocument/2006/relationships/notesMaster" Target="/ppt/notesMasters/notesMaster1.xml" Id="Rcfbf1a0a2e4443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a812e22e3a4b8e" /><Relationship Type="http://schemas.openxmlformats.org/officeDocument/2006/relationships/notesMaster" Target="/ppt/notesMasters/notesMaster1.xml" Id="Rac957181c0fd45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2e02596b9b424a" /><Relationship Type="http://schemas.openxmlformats.org/officeDocument/2006/relationships/notesMaster" Target="/ppt/notesMasters/notesMaster1.xml" Id="Rc13818abbacf4f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38ac6d058a4ddf" /><Relationship Type="http://schemas.openxmlformats.org/officeDocument/2006/relationships/notesMaster" Target="/ppt/notesMasters/notesMaster1.xml" Id="R1a9f0119f3cb41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2a75bfcb69420d" /><Relationship Type="http://schemas.openxmlformats.org/officeDocument/2006/relationships/notesMaster" Target="/ppt/notesMasters/notesMaster1.xml" Id="R563a5624027f45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delivered scope: Shift Drafts and daily, weekly, and downtime reporting are the core platform. Machine-event visibility and a functional read-only Reporting Assistant are delivered extensions. Broader model-backed reasoning, document knowledge, recurring artifacts, and production advisory remain future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docs/end-to-end-system.md</a:t>
            </a:r>
          </a:p>
          <a:p xmlns:a="http://schemas.openxmlformats.org/drawingml/2006/main">
            <a:r>
              <a:t>- docs/case-study.md</a:t>
            </a:r>
          </a:p>
          <a:p xmlns:a="http://schemas.openxmlformats.org/drawingml/2006/main">
            <a:r>
              <a:t>- docs/claim-boundaries.md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four classes of uncertainty. Each one requires a different invariant; none is solved by simply retrying more often.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docs/case-study.md</a:t>
            </a:r>
          </a:p>
          <a:p xmlns:a="http://schemas.openxmlformats.org/drawingml/2006/main">
            <a:r>
              <a:t>- docs/technical-decisions.md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clockwise. Original evidence stays authoritative, report, machine-status, and assistant surfaces remain read-only, repair reuses the canonical path, and release controls govern the same writer boundary. The functional assistant reuses governed contracts without creating publication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docs/end-to-end-system.md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docs/claim-boundaries.md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raw package inspection matters: a recalculating spreadsheet client can make a visually plausible file appear correct even when required stored values are absent.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public/synthetic-report-summary.png (synthetic artifact)</a:t>
            </a:r>
          </a:p>
          <a:p xmlns:a="http://schemas.openxmlformats.org/drawingml/2006/main">
            <a:r>
              <a:t>- docs/end-to-end-system.md</a:t>
            </a:r>
          </a:p>
          <a:p xmlns:a="http://schemas.openxmlformats.org/drawingml/2006/main">
            <a:r>
              <a:t>- docs/validation-methodology.md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horizontal line as the lifecycle. Stress that all recovery reuses the existing renderer, publisher, queue, and checkpoint store; there is no parallel self-healing writer.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docs/reliability-state-machine.md</a:t>
            </a:r>
          </a:p>
          <a:p xmlns:a="http://schemas.openxmlformats.org/drawingml/2006/main">
            <a:r>
              <a:t>- docs/end-to-end-system.md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a failed-restored release as positive evidence for containment and rollback, not as a successful successor. The system preserved service and one-writer topology while refusing the regression.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docs/security-and-governance.md</a:t>
            </a:r>
          </a:p>
          <a:p xmlns:a="http://schemas.openxmlformats.org/drawingml/2006/main">
            <a:r>
              <a:t>- docs/validation-methodology.md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delivered report families are Shift Drafts, Daily Production, Weekly Production, and Weekly Downtime. The other numbers are architecture and protocol invariants: one active writer and zero retry PUTs after ambiguous accepted writes.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docs/operational-use-and-impact.md</a:t>
            </a:r>
          </a:p>
          <a:p xmlns:a="http://schemas.openxmlformats.org/drawingml/2006/main">
            <a:r>
              <a:t>- docs/validation-methodology.md</a:t>
            </a:r>
          </a:p>
          <a:p xmlns:a="http://schemas.openxmlformats.org/drawingml/2006/main">
            <a:r>
              <a:t>- docs/claim-boundaries.md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engineering principle: reliable automation is defined as much by refusal and evidence as by successful mutation. The functional Reporting Assistant already inherits identity, lineage, access, citation, and refusal boundaries; broader model-backed reasoning and advisory capability remain future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docs/project-chronology.md</a:t>
            </a:r>
          </a:p>
          <a:p xmlns:a="http://schemas.openxmlformats.org/drawingml/2006/main">
            <a:r>
              <a:t>- docs/interview-kit.md</a:t>
            </a:r>
          </a:p>
          <a:p xmlns:a="http://schemas.openxmlformats.org/drawingml/2006/main">
            <a:r>
              <a:t>- docs/claim-boundaries.md</a:t>
            </a:r>
          </a:p>
          <a:p xmlns:a="http://schemas.openxmlformats.org/drawingml/2006/main">
            <a:r>
              <a:t>- CONTACT.md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5ae8823124e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25909bf8954fa4" /><Relationship Type="http://schemas.openxmlformats.org/officeDocument/2006/relationships/slideLayout" Target="/ppt/slideLayouts/slideLayout1.xml" Id="R63bcd5319a5f41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bcd5319a5f41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7c434d61d47ef" /><Relationship Type="http://schemas.openxmlformats.org/officeDocument/2006/relationships/notesSlide" Target="/ppt/notesSlides/notesSlide1.xml" Id="Raac7564e4fdc47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d639598aa4d8f" /><Relationship Type="http://schemas.openxmlformats.org/officeDocument/2006/relationships/notesSlide" Target="/ppt/notesSlides/notesSlide2.xml" Id="R0e73b97d579542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cc2dc934946d8" /><Relationship Type="http://schemas.openxmlformats.org/officeDocument/2006/relationships/notesSlide" Target="/ppt/notesSlides/notesSlide3.xml" Id="R5d3cac48c2b145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5768fedb8478c" /><Relationship Type="http://schemas.openxmlformats.org/officeDocument/2006/relationships/image" Target="/ppt/media/image.png" Id="R18724670b5ef47fd" /><Relationship Type="http://schemas.openxmlformats.org/officeDocument/2006/relationships/notesSlide" Target="/ppt/notesSlides/notesSlide4.xml" Id="R14c619e3f91e4e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7eb1780154824" /><Relationship Type="http://schemas.openxmlformats.org/officeDocument/2006/relationships/notesSlide" Target="/ppt/notesSlides/notesSlide5.xml" Id="R25a85d3c46fb49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ba7ce2c7a41c6" /><Relationship Type="http://schemas.openxmlformats.org/officeDocument/2006/relationships/notesSlide" Target="/ppt/notesSlides/notesSlide6.xml" Id="Rcd700a53738146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e98530eea4e2f" /><Relationship Type="http://schemas.openxmlformats.org/officeDocument/2006/relationships/notesSlide" Target="/ppt/notesSlides/notesSlide7.xml" Id="R84c89b10bc154d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e290539434f02" /><Relationship Type="http://schemas.openxmlformats.org/officeDocument/2006/relationships/notesSlide" Target="/ppt/notesSlides/notesSlide8.xml" Id="Rf9c3e603c23747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674EB-17D7-47DF-9DAB-9E122BEA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THOMAS RYAN / PEPPERBALL INTERNSHIP 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54CCF-7F2C-4298-9CB3-B5346446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9810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5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5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Manufacturing reporting that can explain and repair itself.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2ED4E-EB39-41DB-B320-E7B4A803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7096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Delivered reporting core, machine visibility and functional read-only Reporting Assistant extensions, with governed future expansion.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9B95F-7955-4B50-BF47-BB627133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29150"/>
            <a:ext cx="29337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2BF94-F581-4EAC-94A4-408DBA6C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810125"/>
            <a:ext cx="249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THOMAS RYAN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60FFC-CBD5-4C4E-BF4A-5F6EBA62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53025"/>
            <a:ext cx="249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Forward Deployed Engineer Intern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May-August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CFBE5-2326-4A02-AE15-0EF18BF1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26262"/>
                </a:solidFill>
                <a:latin typeface="Arial"/>
                <a:ea typeface="Arial"/>
                <a:cs typeface="Arial"/>
              </a:rPr>
              <a:t>Personal portfolio case study by Thomas Ryan. Not an official PepperBall publication.</a:t>
            </a:r>
          </a:p>
        </p:txBody>
      </p:sp>
    </p:spTree>
    <p:extLst>
      <p:ext uri="{BB962C8B-B14F-4D97-AF65-F5344CB8AC3E}">
        <p14:creationId xmlns:p14="http://schemas.microsoft.com/office/powerpoint/2010/main" val="595424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EB530-BB79-4498-8A1C-0E81B63C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PROBLEM AND CONSTRAINTS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E8ADF-F4F4-443C-B6F2-035BD6A2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69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Why a healthy pipeline could still produce an unhealthy outcome.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98680-71A7-4004-8F3A-43CEEB55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Reliability gaps lived between components, business meaning, remote state, and release timing.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00050" y="6324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0CD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68844-E32D-4BA7-B1AC-341D3665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THOMAS RYAN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C2ACF-4387-4B0E-A600-1F6DCC7D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51555-580D-4938-AB43-35F5B4D6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54673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3C96F-6D9B-4096-841C-BBCA296D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C51E3-5A60-4542-9B0D-BA74B4F5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Missing 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C4B96-BF9B-465F-89B9-5F26C56A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Monitoring existing files cannot detect a report that was expected but never created.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EC67C-CB6A-4503-A40E-27E6AB86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54673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D5105-3F3D-4BD2-BE92-FACBC1E4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860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4BB0E-F5AD-4437-9721-E3AE0168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03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Semantic drift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056418-032B-404B-9772-F0323735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861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A byte or capture timestamp can change even when governed business material does not.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766B1-D66B-40DA-ABD2-82699785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54673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841B8-744C-4A7D-A828-9BA04CFB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0B632-46E9-48E2-8B84-FD4673F9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Ambiguous writes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D072E-9D20-4A89-A9C3-7CD14C4F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A remote write may succeed while its response is lost, making naive retry unsafe.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E55C86-95E0-4B41-8111-64D8B352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24350"/>
            <a:ext cx="54673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D9C2DD-05E8-4D6C-B3D8-64063EA8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148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55E11-B466-4178-8700-8D1607E7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291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Shared 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05DF00-98B0-4113-975F-245DAD84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149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Independently correct schedules can still collide at one canonical publication surface.</a:t>
            </a:r>
          </a:p>
        </p:txBody>
      </p:sp>
    </p:spTree>
    <p:extLst>
      <p:ext uri="{BB962C8B-B14F-4D97-AF65-F5344CB8AC3E}">
        <p14:creationId xmlns:p14="http://schemas.microsoft.com/office/powerpoint/2010/main" val="3187421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8FFBDC-71D2-49A1-8FF6-B471392E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A873D-BB91-4F9A-876A-AB3516EE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The end-to-end governed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E8593-047D-4F5C-B6D0-D27B606B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Eight responsibilities connect the source, product, user, recovery, and release planes.</a:t>
            </a:r>
          </a:p>
        </p:txBody>
      </p:sp>
      <p:cxnSp>
        <p:nvCxnSpPr>
          <p:cNvPr id="234" name=""/>
          <p:cNvCxnSpPr/>
          <p:nvPr/>
        </p:nvCxnSpPr>
        <p:spPr>
          <a:xfrm xmlns:a="http://schemas.openxmlformats.org/drawingml/2006/main">
            <a:off x="400050" y="6324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0CD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C2687-1AB8-440E-85C4-8EABD136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THOMAS RYAN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F1E53-317A-40AB-AAF9-8800960F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71248-19B0-43E7-A3E1-3F2B3BAE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24003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BE8E6"/>
          </a:solidFill>
          <a:ln xmlns:a="http://schemas.openxmlformats.org/drawingml/2006/main" w="9525">
            <a:solidFill>
              <a:srgbClr val="D0D0C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04806-A451-4853-A03C-48613E7A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A3012-9768-4F14-A3AB-0D1210B6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9CD8A-9D39-4071-BC95-C3D39C6D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Version-aware documents</a:t>
            </a:r>
          </a:p>
        </p:txBody>
      </p:sp>
      <p:cxnSp>
        <p:nvCxnSpPr>
          <p:cNvPr id="241" name=""/>
          <p:cNvCxnSpPr/>
          <p:nvPr/>
        </p:nvCxnSpPr>
        <p:spPr>
          <a:xfrm xmlns:a="http://schemas.openxmlformats.org/drawingml/2006/main">
            <a:off x="2800350" y="33051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52B1E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C0B2E-20B0-4A29-A35B-C608347D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24150"/>
            <a:ext cx="24003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F6953-8828-4488-9677-D072D42D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860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2C17F-558F-4708-925B-DCC19356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099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GOVERN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2DC9C-2507-439B-A568-9BAA3479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528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Raw, normalized, current</a:t>
            </a:r>
          </a:p>
        </p:txBody>
      </p:sp>
      <p:cxnSp>
        <p:nvCxnSpPr>
          <p:cNvPr id="246" name=""/>
          <p:cNvCxnSpPr/>
          <p:nvPr/>
        </p:nvCxnSpPr>
        <p:spPr>
          <a:xfrm xmlns:a="http://schemas.openxmlformats.org/drawingml/2006/main">
            <a:off x="5715000" y="33051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52B1E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6E5AE-1CD1-4423-8CBC-94CAEEC9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24003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A29AA-8682-430A-90BD-BF9742C7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860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3CFE5E-8F69-4EB7-91A4-877F1135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099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ACCOUNT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00E875-DFC8-4EA5-9CE6-C24B509D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528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Expected output state</a:t>
            </a:r>
          </a:p>
        </p:txBody>
      </p:sp>
      <p:cxnSp>
        <p:nvCxnSpPr>
          <p:cNvPr id="251" name=""/>
          <p:cNvCxnSpPr/>
          <p:nvPr/>
        </p:nvCxnSpPr>
        <p:spPr>
          <a:xfrm xmlns:a="http://schemas.openxmlformats.org/drawingml/2006/main">
            <a:off x="8629650" y="33051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52B1E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21E57-EFEA-4F44-9A56-7B74DFF9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24003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122297-8E78-49F9-B069-1DF7ABE1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860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72E6B5-C87F-4CC2-93EF-19D790A8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099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RENDER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2D44F6-1988-42A4-91F8-879DAF39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528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Four workbook families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52BFC5-3A65-40A8-BAA0-ED7E1EF6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24003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BE8E6"/>
          </a:solidFill>
          <a:ln xmlns:a="http://schemas.openxmlformats.org/drawingml/2006/main" w="9525">
            <a:solidFill>
              <a:srgbClr val="D0D0C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82CAD2-8151-4E71-BBC0-5E6DE463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577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F85323-380B-439C-89C1-3D9177DE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815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CFC3E0-2EF7-44EF-BC86-9F08041A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244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One writer and rollback</a:t>
            </a:r>
          </a:p>
        </p:txBody>
      </p:sp>
      <p:cxnSp>
        <p:nvCxnSpPr>
          <p:cNvPr id="260" name=""/>
          <p:cNvCxnSpPr/>
          <p:nvPr/>
        </p:nvCxnSpPr>
        <p:spPr>
          <a:xfrm xmlns:a="http://schemas.openxmlformats.org/drawingml/2006/main">
            <a:off x="2800350" y="50768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52B1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051711-4460-43BA-9BE2-717F5875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95800"/>
            <a:ext cx="24003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BE8E6"/>
          </a:solidFill>
          <a:ln xmlns:a="http://schemas.openxmlformats.org/drawingml/2006/main" w="9525">
            <a:solidFill>
              <a:srgbClr val="D0D0C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F45ACE-6508-4A6B-B3D1-81E6DB7D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577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08B98A-7D0E-43CC-A966-49D7357B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815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REPAIR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367106-366E-4C1F-81F7-C2797882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3244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Fair bounded recovery</a:t>
            </a:r>
          </a:p>
        </p:txBody>
      </p:sp>
      <p:cxnSp>
        <p:nvCxnSpPr>
          <p:cNvPr id="265" name=""/>
          <p:cNvCxnSpPr/>
          <p:nvPr/>
        </p:nvCxnSpPr>
        <p:spPr>
          <a:xfrm xmlns:a="http://schemas.openxmlformats.org/drawingml/2006/main">
            <a:off x="5715000" y="50768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52B1E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6A4348-B5B9-4E47-B77A-0DA0C01C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95800"/>
            <a:ext cx="24003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BE8E6"/>
          </a:solidFill>
          <a:ln xmlns:a="http://schemas.openxmlformats.org/drawingml/2006/main" w="9525">
            <a:solidFill>
              <a:srgbClr val="D0D0C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A04AF5-A059-4A5F-A0CB-C88CFB14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577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99C56F-0CF0-4DDD-9B0A-234FC6AA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815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EXPERIENCE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09B304-B0B0-4E6F-A9E7-9BE324A4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244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Reports + extensions</a:t>
            </a:r>
          </a:p>
        </p:txBody>
      </p:sp>
      <p:cxnSp>
        <p:nvCxnSpPr>
          <p:cNvPr id="270" name=""/>
          <p:cNvCxnSpPr/>
          <p:nvPr/>
        </p:nvCxnSpPr>
        <p:spPr>
          <a:xfrm xmlns:a="http://schemas.openxmlformats.org/drawingml/2006/main">
            <a:off x="8629650" y="50768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52B1E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A99A18-CE40-4D75-8B99-C0FE5F35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95800"/>
            <a:ext cx="2400300" cy="1171575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BE8E6"/>
          </a:solidFill>
          <a:ln xmlns:a="http://schemas.openxmlformats.org/drawingml/2006/main" w="9525">
            <a:solidFill>
              <a:srgbClr val="D0D0C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46A426-3AA7-4B28-8281-608ED4FC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577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BF0DDB-0491-4321-9C1A-BB75C903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815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D6FAE4-B436-47C5-8B3B-BAA93A08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244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Conditional write plus GET</a:t>
            </a:r>
          </a:p>
        </p:txBody>
      </p:sp>
      <p:cxnSp>
        <p:nvCxnSpPr>
          <p:cNvPr id="275" name=""/>
          <p:cNvCxnSpPr/>
          <p:nvPr/>
        </p:nvCxnSpPr>
        <p:spPr>
          <a:xfrm xmlns:a="http://schemas.openxmlformats.org/drawingml/2006/main">
            <a:off x="10344150" y="3895725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52B1E"/>
            </a:solidFill>
            <a:prstDash val="solid"/>
          </a:ln>
        </p:spPr>
      </p:cxnSp>
      <p:cxnSp>
        <p:nvCxnSpPr>
          <p:cNvPr id="276" name=""/>
          <p:cNvCxnSpPr/>
          <p:nvPr/>
        </p:nvCxnSpPr>
        <p:spPr>
          <a:xfrm xmlns:a="http://schemas.openxmlformats.org/drawingml/2006/main">
            <a:off x="1600200" y="3895725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52B1E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5382230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7656B6-7437-4970-A7C8-F272AE55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PRODUCT AND DATA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2C3F2-89E0-454C-8FE9-7F4A330C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1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The workbook is an operational product - not an incidental export.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5C0F2-CFCC-40C2-9090-3A1EF0DA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Rendered appearance and raw package state must agree before publication.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00050" y="6324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0CD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A0A86-EF01-4DE7-84E2-7595C703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THOMAS RYAN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B2B6D-F83E-4D63-883B-F2BFBD1F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24670b5ef47fd"/>
          <a:stretch xmlns:a="http://schemas.openxmlformats.org/drawingml/2006/main"/>
        </p:blipFill>
        <p:spPr>
          <a:xfrm xmlns:a="http://schemas.openxmlformats.org/drawingml/2006/main">
            <a:off x="508915" y="2552700"/>
            <a:ext cx="6449771" cy="3257550"/>
          </a:xfrm>
          <a:prstGeom xmlns:a="http://schemas.openxmlformats.org/drawingml/2006/main" prst="roundRect">
            <a:avLst>
              <a:gd name="adj" fmla="val 467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19E6A-FD77-43B9-B871-5ECE990B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52700"/>
            <a:ext cx="43815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40F87-187C-49B9-8CF4-53B2DF99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194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CERTIFICATION SURFACES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9CE89-58DC-45AC-A7ED-0DAD4BD7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3051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F8746B-8EF8-4F17-BE19-9812985F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67075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Two visible, purposeful sheets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1D8B1-D93E-4675-AE3A-0312D95A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861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A03C6-6F93-4097-8595-B3398CA3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48075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Client-independent stored values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86569-4594-4AD8-8A9E-3AA52619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0671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4C0AB-D911-4780-8526-8961B304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29075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Formula and raw-package 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8C410-7AF2-4161-97E4-3D810BF1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4481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1DD0F-6DD6-49DA-8952-B8D773F9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10075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lineage and material identity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B37EC-CC33-4BEB-B1DE-29AC41F0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8291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3814B-785B-4D14-A2CB-9AFD2F9B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91075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Missing remains distinct from zero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AF2CE6-FADD-4B9B-A628-816DD223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2101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600364-A412-4D0C-9E1C-BA85D024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72075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Family semantics and visual layout</a:t>
            </a:r>
          </a:p>
        </p:txBody>
      </p:sp>
    </p:spTree>
    <p:extLst>
      <p:ext uri="{BB962C8B-B14F-4D97-AF65-F5344CB8AC3E}">
        <p14:creationId xmlns:p14="http://schemas.microsoft.com/office/powerpoint/2010/main" val="6122574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D9D2A6-2987-4A5F-8CFA-251FA2CE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RECOVERY STATE MACHINE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19D77-EAAE-40BF-9644-4C28F92F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Self-healing reduces authority as uncertainty increases.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44331-5B78-46E1-903C-21168F1C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The loop can repair eligible technical gaps, but it cannot invent facts or rewrite protected evidence.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400050" y="6324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0CD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2CC0B-4BAD-49D7-B4C6-44FCF6A4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THOMAS RYAN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368F5-BB41-4B8E-919A-A6CE7B75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400050" y="3409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2B1E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0A94D-187B-4086-BE22-356D960F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2B1E"/>
          </a:solidFill>
          <a:ln xmlns:a="http://schemas.openxmlformats.org/drawingml/2006/main" w="9525">
            <a:solidFill>
              <a:srgbClr val="D52B1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DF2AD-BD53-40A0-9A26-5A1C872A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0A831-FB20-44E4-B3EF-623CA58B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Expected versus actual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83852-1D56-43ED-838C-C96C446B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Independent accounting detects an identity that never existed.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610D8-21E3-4D8B-AB99-C487812E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337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2B1E"/>
          </a:solidFill>
          <a:ln xmlns:a="http://schemas.openxmlformats.org/drawingml/2006/main" w="9525">
            <a:solidFill>
              <a:srgbClr val="D52B1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82F5A-A755-45DA-894E-1B5ACC45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0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ADF9D-897B-411E-8D94-6B3DF5E8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623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Classify and prepare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94309-7A71-410A-9E93-506EF226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57675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Fair selection, source preparation, semantic identity, protected holds.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D8480-E84E-4E79-89D0-6062E797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2B1E"/>
          </a:solidFill>
          <a:ln xmlns:a="http://schemas.openxmlformats.org/drawingml/2006/main" w="9525">
            <a:solidFill>
              <a:srgbClr val="D52B1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59F63-7A75-44F9-86BC-45C95CFD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00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SETTLE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515AB-3FB3-4D6D-84A6-DB92A45D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623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Write, read, or refuse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9EAA1D-DFBC-4732-9836-B67DB56A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57675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Conditional same-item write, GET-only settlement, no-op, or terminal closure.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6597E1-49F3-4AA3-B4E1-7FAD3A3D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6"/>
          </a:solidFill>
          <a:ln xmlns:a="http://schemas.openxmlformats.org/drawingml/2006/main" w="9525">
            <a:solidFill>
              <a:srgbClr val="FBE8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728DD8-1E83-4778-B17E-3D3F743E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686425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ELIGIBLE: technical gaps and qualified late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BC56FE-F951-4B63-A0E3-30C52741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5686425"/>
            <a:ext cx="569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PROTECTED: unknown identity, missing business evidence, access conflicts, terminal outputs</a:t>
            </a:r>
          </a:p>
        </p:txBody>
      </p:sp>
    </p:spTree>
    <p:extLst>
      <p:ext uri="{BB962C8B-B14F-4D97-AF65-F5344CB8AC3E}">
        <p14:creationId xmlns:p14="http://schemas.microsoft.com/office/powerpoint/2010/main" val="17055030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370B51-25F4-4EE7-A8F2-E1A686F4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FAIL-CLOSED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F04EF-CC86-4E09-B354-DCB1A373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Security, uptime, and rollback are one release contract.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3C4FA-27E0-414A-9A03-C320C22F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A release is acceptable only when identity, access, lineage, presentation, writer topology, and exact restoration all remain proven.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00050" y="6324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0CD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EF913-F551-4AFC-90D5-98C2205E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THOMAS RYAN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1D7E1-D46A-4AFA-9FF7-F42FB7F9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329EC-F2AF-4D52-BA41-EE4AE340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5467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DB1EE-0208-4DBC-A413-9421352D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76D36-4737-4329-9C2C-95FD4CCB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Least privilege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BC71F-02CF-4C74-B320-F563CB22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Unknown identity, permission, ACL, or secret state refuses mutation.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830B3-2B82-4829-B4F9-29F9ABFD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52700"/>
            <a:ext cx="5467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2B082-F29D-4EA7-9AE0-E375C8C7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4320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SHADOW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2F1DA-8EA2-4791-9842-A7D15845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575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Zero-output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DFE907-F0C5-41E2-90E9-9330C5D8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433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An immutable successor prepares and decides in production shape without proof writes.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3414D-B2BB-4F3C-B136-44FA1A06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5467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BE8E6"/>
          </a:solidFill>
          <a:ln xmlns:a="http://schemas.openxmlformats.org/drawingml/2006/main" w="9525">
            <a:solidFill>
              <a:srgbClr val="D0D0C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28A34-F643-40C9-B728-BE9D5F28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1295A9-4C89-4412-A454-04D22851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Exactly one writer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3C0DB-520A-42AF-A077-CCA16A0C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6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The current writer drains before the successor activates; overlap fails the release.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C05180-D839-45D1-9F48-7750DBDB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05300"/>
            <a:ext cx="5467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8E8E6"/>
          </a:solidFill>
          <a:ln xmlns:a="http://schemas.openxmlformats.org/drawingml/2006/main" w="9525">
            <a:solidFill>
              <a:srgbClr val="D0D0C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C9E9D-2C3E-49DF-9313-CE1846EA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9580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RESTORE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5B3F1-D6F4-4E50-B5A1-6392C2CE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01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Exact predecessor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30471-096D-4A95-828B-7016184C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959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Material regression restores the certified inactive release instead of forcing output.</a:t>
            </a:r>
          </a:p>
        </p:txBody>
      </p:sp>
    </p:spTree>
    <p:extLst>
      <p:ext uri="{BB962C8B-B14F-4D97-AF65-F5344CB8AC3E}">
        <p14:creationId xmlns:p14="http://schemas.microsoft.com/office/powerpoint/2010/main" val="11670610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8303D0-7984-4014-BD77-9F4D5831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VERIFICATION AND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E7C61-5C3C-46E7-9148-837AF14F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Evidence closes the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98629-5411-48A7-A29D-8CD2414E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Claims remain bounded by the grade of proof: test, raw artifact, shadow, readback, failed-restored release, or natural schedule.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00050" y="6324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0CD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BBD7C-4293-41E2-B07A-663C5C74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THOMAS RYAN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114D5-C7B3-4E99-BF3F-D9BC6406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84BBF-3BC0-4B9B-A4E9-594E7E47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13919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Focused and integration tests establish bounded rules. Raw workbook inspection validates the client-independent product. Output-suppressed shadows prove decisions without mutation. Exact remote readback certifies accepted state. Natural schedules prove the real cadence.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31CF2-C3E3-452A-8F79-98E0A8DC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581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BE8E6"/>
          </a:solidFill>
          <a:ln xmlns:a="http://schemas.openxmlformats.org/drawingml/2006/main" w="9525">
            <a:solidFill>
              <a:srgbClr val="D0D0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12263-4F84-4F93-B49C-C924B96B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3009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30E90-5848-4D2D-9985-BB00D091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report families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D730E-799B-47C8-9B3D-2968B451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Shift drafts · daily · weekly · downtime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D898B-AC1C-4F73-897B-310C1671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581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BE8E6"/>
          </a:solidFill>
          <a:ln xmlns:a="http://schemas.openxmlformats.org/drawingml/2006/main" w="9525">
            <a:solidFill>
              <a:srgbClr val="D0D0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D69B2-27B8-46CA-932F-F8A72288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52825"/>
            <a:ext cx="3009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DADECC-8911-449C-B18E-78BFB652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577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active writer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15DEC-0E52-42AD-A547-78FD4D8C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8635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Serialized immutable releases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25E71-3CA7-4BB8-9331-5B96DBD3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581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BE8E6"/>
          </a:solidFill>
          <a:ln xmlns:a="http://schemas.openxmlformats.org/drawingml/2006/main" w="9525">
            <a:solidFill>
              <a:srgbClr val="D0D0C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A00D1-E6B4-4D62-A74A-3C9DF104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52825"/>
            <a:ext cx="3009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28069-842B-49F5-8E02-C8176926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577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retry PUTs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34B30-F658-4716-97DE-9F88C527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8635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GET-only ambiguous settlement</a:t>
            </a:r>
          </a:p>
        </p:txBody>
      </p:sp>
    </p:spTree>
    <p:extLst>
      <p:ext uri="{BB962C8B-B14F-4D97-AF65-F5344CB8AC3E}">
        <p14:creationId xmlns:p14="http://schemas.microsoft.com/office/powerpoint/2010/main" val="20905650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85039-479A-48E2-9DC1-3628E82A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WHAT I WOULD CARRY FORWARD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2BD61-0919-4A11-99B9-BCD16BBB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001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Trustworthy automation knows when not to write.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BBAFD-8855-43C3-87F1-CC800929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6381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Semantic identity over byte identity.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GET before replay.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Protect terminal evidence.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Make rollback observable.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Keep the assistant read-only; gate broader AI.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E137A-568C-4FE0-BBD5-42F31C4C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39814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52B1E"/>
          </a:solidFill>
          <a:ln xmlns:a="http://schemas.openxmlformats.org/drawingml/2006/main" w="9525">
            <a:solidFill>
              <a:srgbClr val="D52B1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79A2B-8281-41CB-B933-2237D9FF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0025"/>
            <a:ext cx="340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THOMAS RYAN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D64FC-482E-40D9-930D-8E442CF5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340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Forward Deployed Engineer Intern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May-August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DB9CF-5B79-4D0A-A5E3-F1384B6E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14925"/>
            <a:ext cx="340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github.com/tonnyryam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linkedin.com/in/thomas-f-ryan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tommyryan.sf415@gmail.com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400050" y="6324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0CD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0D23A-5132-43E9-A88E-05A7BAD7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52B1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2B1E"/>
                </a:solidFill>
                <a:latin typeface="Aptos"/>
                <a:ea typeface="Aptos"/>
                <a:cs typeface="Aptos"/>
              </a:rPr>
              <a:t>Personal portfolio case study by Thomas Ryan. Not an official PepperBall publication.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441A8-C348-4D85-B4D9-79A09B9D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262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26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65654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2026-09-20T18:29:22.3230000Z</dcterms:created>
  <dcterms:modified xsi:type="dcterms:W3CDTF">2026-09-20T18:29:22.3230000Z</dcterms:modified>
</coreProperties>
</file>